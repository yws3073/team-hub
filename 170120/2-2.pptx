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50"/>
  </p:notesMasterIdLst>
  <p:sldIdLst>
    <p:sldId id="307" r:id="rId3"/>
    <p:sldId id="308" r:id="rId4"/>
    <p:sldId id="260" r:id="rId5"/>
    <p:sldId id="261" r:id="rId6"/>
    <p:sldId id="262" r:id="rId7"/>
    <p:sldId id="263" r:id="rId8"/>
    <p:sldId id="264" r:id="rId9"/>
    <p:sldId id="265" r:id="rId10"/>
    <p:sldId id="335" r:id="rId11"/>
    <p:sldId id="266" r:id="rId12"/>
    <p:sldId id="267" r:id="rId13"/>
    <p:sldId id="274" r:id="rId14"/>
    <p:sldId id="275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314" r:id="rId23"/>
    <p:sldId id="315" r:id="rId24"/>
    <p:sldId id="316" r:id="rId25"/>
    <p:sldId id="317" r:id="rId26"/>
    <p:sldId id="337" r:id="rId27"/>
    <p:sldId id="336" r:id="rId28"/>
    <p:sldId id="320" r:id="rId29"/>
    <p:sldId id="321" r:id="rId30"/>
    <p:sldId id="309" r:id="rId31"/>
    <p:sldId id="310" r:id="rId32"/>
    <p:sldId id="311" r:id="rId33"/>
    <p:sldId id="312" r:id="rId34"/>
    <p:sldId id="313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23" r:id="rId45"/>
    <p:sldId id="324" r:id="rId46"/>
    <p:sldId id="332" r:id="rId47"/>
    <p:sldId id="333" r:id="rId48"/>
    <p:sldId id="334" r:id="rId49"/>
  </p:sldIdLst>
  <p:sldSz cx="9144000" cy="6858000" type="screen4x3"/>
  <p:notesSz cx="6858000" cy="9144000"/>
  <p:defaultTextStyle>
    <a:defPPr>
      <a:defRPr lang="ko-KR"/>
    </a:defPPr>
    <a:lvl1pPr marL="0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17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36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52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72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090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108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125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144" algn="l" defTabSz="91403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-54" y="7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2" d="100"/>
        <a:sy n="82" d="100"/>
      </p:scale>
      <p:origin x="0" y="65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AF4BF-C824-4344-8276-444BC75752C6}" type="datetimeFigureOut">
              <a:rPr lang="ko-KR" altLang="en-US" smtClean="0"/>
              <a:t>2015-07-07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9703E-6A05-4B0F-B806-EB82D624B7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17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36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052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072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090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108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125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144" algn="l" defTabSz="91403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fld id="{A4179860-C3FA-48F9-960B-17FC5EB4A936}" type="slidenum">
              <a:rPr lang="en-US" altLang="ko-KR" smtClean="0">
                <a:cs typeface="Arial" charset="0"/>
              </a:rPr>
              <a:pPr/>
              <a:t>2</a:t>
            </a:fld>
            <a:endParaRPr lang="en-US" altLang="ko-KR" smtClean="0">
              <a:cs typeface="Arial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22B61F9-7E3D-45FA-A56F-C653F687C65B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CD9B1F8A-3C47-4C30-8DD1-8A43D7C15562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4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624DFA7B-DF1B-47F6-A6AC-09232BD61B95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5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E085A4B-7EE4-4887-9F83-D4FE597DEF0B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6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CA4ADB41-EC8D-4D15-983B-4B74139B5E50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7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A0A8DB1-5A0F-4C86-BE76-73F910B93002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8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A0A8DB1-5A0F-4C86-BE76-73F910B93002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9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7B8AC260-6D62-4351-A478-403FBC7ABC8C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10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03EDFE5-5CC7-4FB5-A6D7-DCCC4F122B3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11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0783B76-6B99-46AE-BAE1-722D9B4D8552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12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64808BCF-1FC5-4992-B648-D988B360C10C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13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C0C7C672-94B6-4A53-9D05-EF91DD989CF6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14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D2B782D6-677F-4503-83AE-B83DF72A2A3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15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3DF8FDF-EC53-4865-97BB-DBC56D574255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16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2B17F14C-518D-4486-A7B7-CA62BC79BE40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17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D56FB6B-A22D-419F-95A7-36070C693AA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18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DBD0E35D-7A24-41E9-A717-9D550DA60050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19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1806285-C832-4B48-BB3A-F5D24783D0A4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20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67F23A28-1DA0-43B9-BFD7-D99278D03361}" type="slidenum">
              <a:rPr lang="en-US" altLang="ko-KR">
                <a:solidFill>
                  <a:srgbClr val="000000"/>
                </a:solidFill>
                <a:cs typeface="Arial" pitchFamily="34" charset="0"/>
              </a:rPr>
              <a:pPr/>
              <a:t>21</a:t>
            </a:fld>
            <a:endParaRPr lang="en-US" altLang="ko-KR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6DA491C-203D-423A-9EE0-C135C3B52AF2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22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739DDA3-4934-4DFF-BC67-2EDAE59A89D9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23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FCC3C611-2B2B-400C-AC83-B97D848700AC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24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A0A8DB1-5A0F-4C86-BE76-73F910B93002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25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FB06C2D-0D45-4A2F-90F3-15C3F4E29879}" type="slidenum">
              <a:rPr lang="en-US" altLang="ko-KR">
                <a:solidFill>
                  <a:srgbClr val="000000"/>
                </a:solidFill>
                <a:cs typeface="Arial" pitchFamily="34" charset="0"/>
              </a:rPr>
              <a:pPr/>
              <a:t>26</a:t>
            </a:fld>
            <a:endParaRPr lang="en-US" altLang="ko-KR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95336DF-D7AE-4A49-8229-D0A5510DEE8D}" type="slidenum">
              <a:rPr lang="en-US" altLang="ko-KR">
                <a:solidFill>
                  <a:srgbClr val="000000"/>
                </a:solidFill>
                <a:cs typeface="Arial" pitchFamily="34" charset="0"/>
              </a:rPr>
              <a:pPr/>
              <a:t>27</a:t>
            </a:fld>
            <a:endParaRPr lang="en-US" altLang="ko-KR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D66FF94D-2FA4-4422-B851-03F4F6480739}" type="slidenum">
              <a:rPr lang="en-US" altLang="ko-KR">
                <a:solidFill>
                  <a:srgbClr val="000000"/>
                </a:solidFill>
                <a:cs typeface="Arial" pitchFamily="34" charset="0"/>
              </a:rPr>
              <a:pPr/>
              <a:t>28</a:t>
            </a:fld>
            <a:endParaRPr lang="en-US" altLang="ko-KR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2E3F0E6-4B56-4D72-AD95-39FCB35CD2A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29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1E16433B-C0FF-4D1B-976A-DD56C3A56CD6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30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3721B33-2F87-4F40-907C-7AFD58C6325F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31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8F5A2C3-577E-454A-968A-609A18C97A4A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32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6A5B4AAA-2DC4-4A0D-839B-34D5069F8465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33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68133C9-5176-4A67-83EC-3A1D68889851}" type="slidenum">
              <a:rPr lang="en-US" altLang="ko-KR">
                <a:solidFill>
                  <a:srgbClr val="000000"/>
                </a:solidFill>
                <a:cs typeface="Arial" pitchFamily="34" charset="0"/>
              </a:rPr>
              <a:pPr/>
              <a:t>34</a:t>
            </a:fld>
            <a:endParaRPr lang="en-US" altLang="ko-KR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F3871CF1-5437-4A4F-B5B5-6A60A454551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35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8DA579F-E461-4EA4-8335-C9FB7D328ADA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36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18DB971-49C7-4FE2-A2F3-D4389E503857}" type="slidenum">
              <a:rPr lang="en-US" altLang="ko-KR">
                <a:solidFill>
                  <a:srgbClr val="000000"/>
                </a:solidFill>
                <a:cs typeface="Arial" pitchFamily="34" charset="0"/>
              </a:rPr>
              <a:pPr/>
              <a:t>37</a:t>
            </a:fld>
            <a:endParaRPr lang="en-US" altLang="ko-KR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1430E18E-C136-400A-8ABB-059F39DC517E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38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F5D752B6-AB3F-4A08-87CA-CBEFB44DEFB8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39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783FA066-3700-4D0A-B73E-D5086CCABFD9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40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7FE1A267-A347-49EF-B683-5D1130894F02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41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3FDFF65-69DE-4503-8FFE-1B6008FE1221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42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068133C9-5176-4A67-83EC-3A1D68889851}" type="slidenum">
              <a:rPr lang="en-US" altLang="ko-KR">
                <a:solidFill>
                  <a:srgbClr val="000000"/>
                </a:solidFill>
                <a:cs typeface="Arial" pitchFamily="34" charset="0"/>
              </a:rPr>
              <a:pPr/>
              <a:t>43</a:t>
            </a:fld>
            <a:endParaRPr lang="en-US" altLang="ko-KR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F3871CF1-5437-4A4F-B5B5-6A60A454551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44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F3871CF1-5437-4A4F-B5B5-6A60A454551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45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F3871CF1-5437-4A4F-B5B5-6A60A454551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46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F3871CF1-5437-4A4F-B5B5-6A60A4545517}" type="slidenum">
              <a:rPr lang="en-US" altLang="ko-KR">
                <a:solidFill>
                  <a:prstClr val="black"/>
                </a:solidFill>
                <a:cs typeface="Arial" pitchFamily="34" charset="0"/>
              </a:rPr>
              <a:pPr/>
              <a:t>47</a:t>
            </a:fld>
            <a:endParaRPr lang="en-US" altLang="ko-KR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endParaRPr lang="en-US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7" y="2130432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6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5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C907C-888E-49A9-BFBF-DE4577D8818F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3487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BCF59-5291-448D-B09D-17F7F41BC9A9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37427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7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2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88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7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6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5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4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2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17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0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F86B8-29B0-4375-844A-8AC346254B65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48207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88950" y="1722443"/>
            <a:ext cx="4330700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72050" y="1722443"/>
            <a:ext cx="4332288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3B4F3-0444-4E9F-8425-FEA137ABD809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5601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7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81" indent="0">
              <a:buNone/>
              <a:defRPr sz="2000" b="1"/>
            </a:lvl2pPr>
            <a:lvl3pPr marL="913763" indent="0">
              <a:buNone/>
              <a:defRPr sz="1800" b="1"/>
            </a:lvl3pPr>
            <a:lvl4pPr marL="1370643" indent="0">
              <a:buNone/>
              <a:defRPr sz="1600" b="1"/>
            </a:lvl4pPr>
            <a:lvl5pPr marL="1827526" indent="0">
              <a:buNone/>
              <a:defRPr sz="1600" b="1"/>
            </a:lvl5pPr>
            <a:lvl6pPr marL="2284408" indent="0">
              <a:buNone/>
              <a:defRPr sz="1600" b="1"/>
            </a:lvl6pPr>
            <a:lvl7pPr marL="2741289" indent="0">
              <a:buNone/>
              <a:defRPr sz="1600" b="1"/>
            </a:lvl7pPr>
            <a:lvl8pPr marL="3198170" indent="0">
              <a:buNone/>
              <a:defRPr sz="1600" b="1"/>
            </a:lvl8pPr>
            <a:lvl9pPr marL="3655052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2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81" indent="0">
              <a:buNone/>
              <a:defRPr sz="2000" b="1"/>
            </a:lvl2pPr>
            <a:lvl3pPr marL="913763" indent="0">
              <a:buNone/>
              <a:defRPr sz="1800" b="1"/>
            </a:lvl3pPr>
            <a:lvl4pPr marL="1370643" indent="0">
              <a:buNone/>
              <a:defRPr sz="1600" b="1"/>
            </a:lvl4pPr>
            <a:lvl5pPr marL="1827526" indent="0">
              <a:buNone/>
              <a:defRPr sz="1600" b="1"/>
            </a:lvl5pPr>
            <a:lvl6pPr marL="2284408" indent="0">
              <a:buNone/>
              <a:defRPr sz="1600" b="1"/>
            </a:lvl6pPr>
            <a:lvl7pPr marL="2741289" indent="0">
              <a:buNone/>
              <a:defRPr sz="1600" b="1"/>
            </a:lvl7pPr>
            <a:lvl8pPr marL="3198170" indent="0">
              <a:buNone/>
              <a:defRPr sz="1600" b="1"/>
            </a:lvl8pPr>
            <a:lvl9pPr marL="3655052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2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D29A8-B860-4371-8907-FDC4C6E1E941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75065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C25BA-9DA0-47DB-95CF-C946D8EEA794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44801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121F52-8E9F-4D8F-827F-DC00158EE291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35034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7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7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881" indent="0">
              <a:buNone/>
              <a:defRPr sz="1200"/>
            </a:lvl2pPr>
            <a:lvl3pPr marL="913763" indent="0">
              <a:buNone/>
              <a:defRPr sz="1000"/>
            </a:lvl3pPr>
            <a:lvl4pPr marL="1370643" indent="0">
              <a:buNone/>
              <a:defRPr sz="900"/>
            </a:lvl4pPr>
            <a:lvl5pPr marL="1827526" indent="0">
              <a:buNone/>
              <a:defRPr sz="900"/>
            </a:lvl5pPr>
            <a:lvl6pPr marL="2284408" indent="0">
              <a:buNone/>
              <a:defRPr sz="900"/>
            </a:lvl6pPr>
            <a:lvl7pPr marL="2741289" indent="0">
              <a:buNone/>
              <a:defRPr sz="900"/>
            </a:lvl7pPr>
            <a:lvl8pPr marL="3198170" indent="0">
              <a:buNone/>
              <a:defRPr sz="900"/>
            </a:lvl8pPr>
            <a:lvl9pPr marL="3655052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D5887-6EFE-43D8-9243-A9529D41CA88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88515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90" y="4800603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90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6881" indent="0">
              <a:buNone/>
              <a:defRPr sz="2800"/>
            </a:lvl2pPr>
            <a:lvl3pPr marL="913763" indent="0">
              <a:buNone/>
              <a:defRPr sz="2400"/>
            </a:lvl3pPr>
            <a:lvl4pPr marL="1370643" indent="0">
              <a:buNone/>
              <a:defRPr sz="2000"/>
            </a:lvl4pPr>
            <a:lvl5pPr marL="1827526" indent="0">
              <a:buNone/>
              <a:defRPr sz="2000"/>
            </a:lvl5pPr>
            <a:lvl6pPr marL="2284408" indent="0">
              <a:buNone/>
              <a:defRPr sz="2000"/>
            </a:lvl6pPr>
            <a:lvl7pPr marL="2741289" indent="0">
              <a:buNone/>
              <a:defRPr sz="2000"/>
            </a:lvl7pPr>
            <a:lvl8pPr marL="3198170" indent="0">
              <a:buNone/>
              <a:defRPr sz="2000"/>
            </a:lvl8pPr>
            <a:lvl9pPr marL="3655052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9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881" indent="0">
              <a:buNone/>
              <a:defRPr sz="1200"/>
            </a:lvl2pPr>
            <a:lvl3pPr marL="913763" indent="0">
              <a:buNone/>
              <a:defRPr sz="1000"/>
            </a:lvl3pPr>
            <a:lvl4pPr marL="1370643" indent="0">
              <a:buNone/>
              <a:defRPr sz="900"/>
            </a:lvl4pPr>
            <a:lvl5pPr marL="1827526" indent="0">
              <a:buNone/>
              <a:defRPr sz="900"/>
            </a:lvl5pPr>
            <a:lvl6pPr marL="2284408" indent="0">
              <a:buNone/>
              <a:defRPr sz="900"/>
            </a:lvl6pPr>
            <a:lvl7pPr marL="2741289" indent="0">
              <a:buNone/>
              <a:defRPr sz="900"/>
            </a:lvl7pPr>
            <a:lvl8pPr marL="3198170" indent="0">
              <a:buNone/>
              <a:defRPr sz="900"/>
            </a:lvl8pPr>
            <a:lvl9pPr marL="3655052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64E06-03CD-4329-BFC8-BEAE18166949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1180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53C34-19DF-4C44-88AD-6215A5F1973A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56266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00888" y="295282"/>
            <a:ext cx="2203450" cy="629761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88950" y="295282"/>
            <a:ext cx="6459538" cy="629761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680A2-0254-4E24-80AF-8E3593B6E06E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4845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4" y="274642"/>
            <a:ext cx="8229600" cy="939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357313"/>
            <a:ext cx="4038600" cy="47688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4" y="1357313"/>
            <a:ext cx="4038600" cy="476885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12DFC-1850-4C8A-9ABA-93DBABAF932C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042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6" y="2130431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7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6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4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9B47C-5993-4478-B43A-0CB6BF60543F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85838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0731" y="484866"/>
            <a:ext cx="8230934" cy="678872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6533" y="1421637"/>
            <a:ext cx="8230934" cy="4704687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36707-280D-4D7E-A970-CB81695A9EBE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95331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9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92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8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7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7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6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5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4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4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26B5A-BE78-4CFF-92D0-CA79B2695B79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29151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88950" y="1722443"/>
            <a:ext cx="4330700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72050" y="1722443"/>
            <a:ext cx="4332288" cy="487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749B8-68E0-4FFB-92AF-EAA0E64B886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10947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6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26" indent="0">
              <a:buNone/>
              <a:defRPr sz="2000" b="1"/>
            </a:lvl2pPr>
            <a:lvl3pPr marL="913854" indent="0">
              <a:buNone/>
              <a:defRPr sz="1800" b="1"/>
            </a:lvl3pPr>
            <a:lvl4pPr marL="1370779" indent="0">
              <a:buNone/>
              <a:defRPr sz="1600" b="1"/>
            </a:lvl4pPr>
            <a:lvl5pPr marL="1827708" indent="0">
              <a:buNone/>
              <a:defRPr sz="1600" b="1"/>
            </a:lvl5pPr>
            <a:lvl6pPr marL="2284636" indent="0">
              <a:buNone/>
              <a:defRPr sz="1600" b="1"/>
            </a:lvl6pPr>
            <a:lvl7pPr marL="2741562" indent="0">
              <a:buNone/>
              <a:defRPr sz="1600" b="1"/>
            </a:lvl7pPr>
            <a:lvl8pPr marL="3198489" indent="0">
              <a:buNone/>
              <a:defRPr sz="1600" b="1"/>
            </a:lvl8pPr>
            <a:lvl9pPr marL="3655416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926" indent="0">
              <a:buNone/>
              <a:defRPr sz="2000" b="1"/>
            </a:lvl2pPr>
            <a:lvl3pPr marL="913854" indent="0">
              <a:buNone/>
              <a:defRPr sz="1800" b="1"/>
            </a:lvl3pPr>
            <a:lvl4pPr marL="1370779" indent="0">
              <a:buNone/>
              <a:defRPr sz="1600" b="1"/>
            </a:lvl4pPr>
            <a:lvl5pPr marL="1827708" indent="0">
              <a:buNone/>
              <a:defRPr sz="1600" b="1"/>
            </a:lvl5pPr>
            <a:lvl6pPr marL="2284636" indent="0">
              <a:buNone/>
              <a:defRPr sz="1600" b="1"/>
            </a:lvl6pPr>
            <a:lvl7pPr marL="2741562" indent="0">
              <a:buNone/>
              <a:defRPr sz="1600" b="1"/>
            </a:lvl7pPr>
            <a:lvl8pPr marL="3198489" indent="0">
              <a:buNone/>
              <a:defRPr sz="1600" b="1"/>
            </a:lvl8pPr>
            <a:lvl9pPr marL="3655416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A17C1E-AAEE-4BD2-A725-43D8181CB386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73837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A04A8-FF99-4744-BB28-34AAC959D37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86070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A3E776-FD5A-4F2D-992E-091FFC1BE311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9002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6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926" indent="0">
              <a:buNone/>
              <a:defRPr sz="1200"/>
            </a:lvl2pPr>
            <a:lvl3pPr marL="913854" indent="0">
              <a:buNone/>
              <a:defRPr sz="1000"/>
            </a:lvl3pPr>
            <a:lvl4pPr marL="1370779" indent="0">
              <a:buNone/>
              <a:defRPr sz="900"/>
            </a:lvl4pPr>
            <a:lvl5pPr marL="1827708" indent="0">
              <a:buNone/>
              <a:defRPr sz="900"/>
            </a:lvl5pPr>
            <a:lvl6pPr marL="2284636" indent="0">
              <a:buNone/>
              <a:defRPr sz="900"/>
            </a:lvl6pPr>
            <a:lvl7pPr marL="2741562" indent="0">
              <a:buNone/>
              <a:defRPr sz="900"/>
            </a:lvl7pPr>
            <a:lvl8pPr marL="3198489" indent="0">
              <a:buNone/>
              <a:defRPr sz="900"/>
            </a:lvl8pPr>
            <a:lvl9pPr marL="3655416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84B4C-2701-4BAC-8105-22FAEBA3339E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66663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90" y="4800603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90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6926" indent="0">
              <a:buNone/>
              <a:defRPr sz="2800"/>
            </a:lvl2pPr>
            <a:lvl3pPr marL="913854" indent="0">
              <a:buNone/>
              <a:defRPr sz="2400"/>
            </a:lvl3pPr>
            <a:lvl4pPr marL="1370779" indent="0">
              <a:buNone/>
              <a:defRPr sz="2000"/>
            </a:lvl4pPr>
            <a:lvl5pPr marL="1827708" indent="0">
              <a:buNone/>
              <a:defRPr sz="2000"/>
            </a:lvl5pPr>
            <a:lvl6pPr marL="2284636" indent="0">
              <a:buNone/>
              <a:defRPr sz="2000"/>
            </a:lvl6pPr>
            <a:lvl7pPr marL="2741562" indent="0">
              <a:buNone/>
              <a:defRPr sz="2000"/>
            </a:lvl7pPr>
            <a:lvl8pPr marL="3198489" indent="0">
              <a:buNone/>
              <a:defRPr sz="2000"/>
            </a:lvl8pPr>
            <a:lvl9pPr marL="3655416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9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926" indent="0">
              <a:buNone/>
              <a:defRPr sz="1200"/>
            </a:lvl2pPr>
            <a:lvl3pPr marL="913854" indent="0">
              <a:buNone/>
              <a:defRPr sz="1000"/>
            </a:lvl3pPr>
            <a:lvl4pPr marL="1370779" indent="0">
              <a:buNone/>
              <a:defRPr sz="900"/>
            </a:lvl4pPr>
            <a:lvl5pPr marL="1827708" indent="0">
              <a:buNone/>
              <a:defRPr sz="900"/>
            </a:lvl5pPr>
            <a:lvl6pPr marL="2284636" indent="0">
              <a:buNone/>
              <a:defRPr sz="900"/>
            </a:lvl6pPr>
            <a:lvl7pPr marL="2741562" indent="0">
              <a:buNone/>
              <a:defRPr sz="900"/>
            </a:lvl7pPr>
            <a:lvl8pPr marL="3198489" indent="0">
              <a:buNone/>
              <a:defRPr sz="900"/>
            </a:lvl8pPr>
            <a:lvl9pPr marL="3655416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E5C50-5F9A-4B71-92FE-0E4364AA518B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888707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6E835-C9A6-47A5-9A33-C851F62FB100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15048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00888" y="295281"/>
            <a:ext cx="2203450" cy="629761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88950" y="295281"/>
            <a:ext cx="6459538" cy="629761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0EF93-DD9B-408B-BC10-5535E07534D2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53620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417955"/>
            <a:ext cx="8229600" cy="669121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71356" y="1220900"/>
            <a:ext cx="8147928" cy="5018411"/>
          </a:xfrm>
        </p:spPr>
        <p:txBody>
          <a:bodyPr/>
          <a:lstStyle/>
          <a:p>
            <a:r>
              <a:rPr lang="en-US" altLang="ko-KR" dirty="0" smtClean="0"/>
              <a:t>▶ </a:t>
            </a:r>
            <a:r>
              <a:rPr lang="ko-KR" altLang="en-US" dirty="0" smtClean="0"/>
              <a:t>실습 내용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직류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모터를 원하는 속도로 회전 시키고 역회전 시키는 것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▶ </a:t>
            </a:r>
            <a:r>
              <a:rPr lang="ko-KR" altLang="en-US" dirty="0" smtClean="0"/>
              <a:t>실습 부품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직류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모터 드라이브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아두이노와 케이블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배터리</a:t>
            </a:r>
            <a:endParaRPr lang="en-US" altLang="ko-KR" dirty="0" smtClean="0"/>
          </a:p>
          <a:p>
            <a:r>
              <a:rPr lang="en-US" altLang="ko-KR" dirty="0" smtClean="0"/>
              <a:t>▶ </a:t>
            </a:r>
            <a:r>
              <a:rPr lang="ko-KR" altLang="en-US" dirty="0" smtClean="0"/>
              <a:t>관련 용어</a:t>
            </a:r>
            <a:r>
              <a:rPr lang="en-US" altLang="ko-KR" dirty="0" smtClean="0"/>
              <a:t>(</a:t>
            </a:r>
            <a:r>
              <a:rPr lang="ko-KR" altLang="en-US" dirty="0" smtClean="0"/>
              <a:t>생략 가능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   - </a:t>
            </a:r>
            <a:r>
              <a:rPr lang="ko-KR" altLang="en-US" dirty="0" smtClean="0"/>
              <a:t>직류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직류 전기로 돌아가는 모터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반대</a:t>
            </a:r>
            <a:r>
              <a:rPr lang="en-US" altLang="ko-KR" dirty="0" smtClean="0"/>
              <a:t>: </a:t>
            </a:r>
            <a:r>
              <a:rPr lang="ko-KR" altLang="en-US" dirty="0" smtClean="0"/>
              <a:t>교류 모터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   - Servo </a:t>
            </a:r>
            <a:r>
              <a:rPr lang="ko-KR" altLang="en-US" dirty="0" smtClean="0"/>
              <a:t>모터</a:t>
            </a:r>
            <a:r>
              <a:rPr lang="en-US" altLang="ko-KR" dirty="0" smtClean="0"/>
              <a:t>: </a:t>
            </a:r>
            <a:r>
              <a:rPr lang="ko-KR" altLang="en-US" dirty="0" smtClean="0"/>
              <a:t>귀환 제어를 통하여 위치 제어가 가능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- Stepping</a:t>
            </a:r>
            <a:r>
              <a:rPr lang="ko-KR" altLang="en-US" dirty="0" smtClean="0"/>
              <a:t> 모터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전원이 공급되면 일정한 각도를 회전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- BLDC </a:t>
            </a:r>
            <a:r>
              <a:rPr lang="ko-KR" altLang="en-US" dirty="0" smtClean="0"/>
              <a:t>모터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브러쉬</a:t>
            </a:r>
            <a:r>
              <a:rPr lang="ko-KR" altLang="en-US" dirty="0" smtClean="0"/>
              <a:t> 없이 전류 방향에 의하여 회전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DD31A-7378-43BC-A837-FC2DB9D741DA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1932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3497" y="417954"/>
            <a:ext cx="8230934" cy="67857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CE245-9B7D-4C21-9331-5A9608A6BFFE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04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6533" y="274381"/>
            <a:ext cx="8230934" cy="1143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6" tIns="45688" rIns="91376" bIns="456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6533" y="1600545"/>
            <a:ext cx="8230934" cy="4525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76" tIns="45688" rIns="91376" bIns="456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6533" y="6356449"/>
            <a:ext cx="2134440" cy="364363"/>
          </a:xfrm>
          <a:prstGeom prst="rect">
            <a:avLst/>
          </a:prstGeom>
        </p:spPr>
        <p:txBody>
          <a:bodyPr vert="horz" lIns="91376" tIns="45688" rIns="91376" bIns="4568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</a:defRPr>
            </a:lvl1pPr>
          </a:lstStyle>
          <a:p>
            <a:pPr defTabSz="914218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585" y="6356449"/>
            <a:ext cx="2894834" cy="364363"/>
          </a:xfrm>
          <a:prstGeom prst="rect">
            <a:avLst/>
          </a:prstGeom>
        </p:spPr>
        <p:txBody>
          <a:bodyPr vert="horz" lIns="91376" tIns="45688" rIns="91376" bIns="4568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</a:defRPr>
            </a:lvl1pPr>
          </a:lstStyle>
          <a:p>
            <a:pPr defTabSz="914218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027" y="6356449"/>
            <a:ext cx="2134440" cy="364363"/>
          </a:xfrm>
          <a:prstGeom prst="rect">
            <a:avLst/>
          </a:prstGeom>
        </p:spPr>
        <p:txBody>
          <a:bodyPr vert="horz" lIns="91376" tIns="45688" rIns="91376" bIns="4568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</a:defRPr>
            </a:lvl1pPr>
          </a:lstStyle>
          <a:p>
            <a:pPr defTabSz="914218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2D64C63C-EF49-4F7D-9460-F721C6A05C30}" type="slidenum">
              <a:rPr kumimoji="1" lang="en-US" altLang="ko-KR" smtClean="0">
                <a:solidFill>
                  <a:prstClr val="black">
                    <a:tint val="75000"/>
                  </a:prstClr>
                </a:solidFill>
              </a:rPr>
              <a:pPr defTabSz="914218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05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2408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408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12408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12408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12408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5888" algn="ctr" defTabSz="912408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51776" algn="ctr" defTabSz="912408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77665" algn="ctr" defTabSz="912408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703554" algn="ctr" defTabSz="912408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599" indent="-341599" algn="l" defTabSz="912408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347" indent="-285406" algn="l" defTabSz="912408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618" indent="-227732" algn="l" defTabSz="912408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561" indent="-227732" algn="l" defTabSz="912408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503" indent="-227732" algn="l" defTabSz="912408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8" indent="-228442" algn="l" defTabSz="913763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9" indent="-228442" algn="l" defTabSz="913763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613" indent="-228442" algn="l" defTabSz="913763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93" indent="-228442" algn="l" defTabSz="913763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81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3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3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6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8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9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70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52" algn="l" defTabSz="91376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6533" y="274379"/>
            <a:ext cx="8230934" cy="67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5" tIns="45692" rIns="91385" bIns="456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6533" y="1287813"/>
            <a:ext cx="8230934" cy="4952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5" tIns="45692" rIns="91385" bIns="456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6533" y="6356448"/>
            <a:ext cx="2134440" cy="364363"/>
          </a:xfrm>
          <a:prstGeom prst="rect">
            <a:avLst/>
          </a:prstGeom>
        </p:spPr>
        <p:txBody>
          <a:bodyPr vert="horz" lIns="91385" tIns="45692" rIns="91385" bIns="4569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</a:defRPr>
            </a:lvl1pPr>
          </a:lstStyle>
          <a:p>
            <a:pPr defTabSz="91440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584" y="6356448"/>
            <a:ext cx="2894834" cy="364363"/>
          </a:xfrm>
          <a:prstGeom prst="rect">
            <a:avLst/>
          </a:prstGeom>
        </p:spPr>
        <p:txBody>
          <a:bodyPr vert="horz" lIns="91385" tIns="45692" rIns="91385" bIns="4569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</a:defRPr>
            </a:lvl1pPr>
          </a:lstStyle>
          <a:p>
            <a:pPr defTabSz="91440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027" y="6356448"/>
            <a:ext cx="2134440" cy="364363"/>
          </a:xfrm>
          <a:prstGeom prst="rect">
            <a:avLst/>
          </a:prstGeom>
        </p:spPr>
        <p:txBody>
          <a:bodyPr vert="horz" lIns="91385" tIns="45692" rIns="91385" bIns="4569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</a:defRPr>
            </a:lvl1pPr>
          </a:lstStyle>
          <a:p>
            <a:pPr defTabSz="91440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FF42D78D-EF86-416A-86E8-F7E4C4AEB102}" type="slidenum">
              <a:rPr kumimoji="1" lang="en-US" altLang="ko-KR">
                <a:solidFill>
                  <a:prstClr val="black">
                    <a:tint val="75000"/>
                  </a:prstClr>
                </a:solidFill>
              </a:rPr>
              <a:pPr defTabSz="914400"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1153573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86" tIns="42593" rIns="85186" bIns="42593" anchor="ctr"/>
          <a:lstStyle/>
          <a:p>
            <a:pPr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1043504" y="6239911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86" tIns="42593" rIns="85186" bIns="42593" anchor="ctr"/>
          <a:lstStyle/>
          <a:p>
            <a:pPr algn="ctr" defTabSz="914400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17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ctr" defTabSz="912499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499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12499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12499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12499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5930" algn="ctr" defTabSz="912499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51861" algn="ctr" defTabSz="912499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77793" algn="ctr" defTabSz="912499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703723" algn="ctr" defTabSz="912499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633" indent="-341633" algn="l" defTabSz="91249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421" indent="-285434" algn="l" defTabSz="91249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1" indent="-227754" algn="l" defTabSz="91249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720" indent="-227754" algn="l" defTabSz="91249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708" indent="-227754" algn="l" defTabSz="912499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098" indent="-228464" algn="l" defTabSz="91385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024" indent="-228464" algn="l" defTabSz="91385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954" indent="-228464" algn="l" defTabSz="91385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880" indent="-228464" algn="l" defTabSz="913854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26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854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779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708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636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562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89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416" algn="l" defTabSz="9138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es.pymasde.blueter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pymasde.es/blueterm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indows.microsoft.com/ko-kr/windows7/add-a-bluetooth-enabled-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1356" y="1488433"/>
            <a:ext cx="7860372" cy="4751477"/>
          </a:xfrm>
        </p:spPr>
        <p:txBody>
          <a:bodyPr rtlCol="0">
            <a:normAutofit/>
          </a:bodyPr>
          <a:lstStyle/>
          <a:p>
            <a:pPr defTabSz="457109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ko-KR" sz="5000" b="1" dirty="0" smtClean="0">
                <a:solidFill>
                  <a:srgbClr val="0000FF"/>
                </a:solidFill>
              </a:rPr>
              <a:t>2.2 </a:t>
            </a:r>
            <a:r>
              <a:rPr lang="ko-KR" altLang="en-US" sz="5000" b="1" dirty="0">
                <a:solidFill>
                  <a:srgbClr val="0000FF"/>
                </a:solidFill>
              </a:rPr>
              <a:t>자동차</a:t>
            </a:r>
            <a:r>
              <a:rPr lang="en-US" altLang="ko-KR" sz="5000" b="1" dirty="0">
                <a:solidFill>
                  <a:srgbClr val="0000FF"/>
                </a:solidFill>
              </a:rPr>
              <a:t> </a:t>
            </a:r>
            <a:r>
              <a:rPr lang="ko-KR" altLang="en-US" sz="5000" b="1" dirty="0" smtClean="0">
                <a:solidFill>
                  <a:srgbClr val="0000FF"/>
                </a:solidFill>
              </a:rPr>
              <a:t>부품</a:t>
            </a:r>
            <a:r>
              <a:rPr lang="en-US" altLang="ko-KR" sz="5000" b="1" dirty="0" smtClean="0">
                <a:solidFill>
                  <a:srgbClr val="0000FF"/>
                </a:solidFill>
              </a:rPr>
              <a:t> </a:t>
            </a:r>
            <a:r>
              <a:rPr lang="en-US" altLang="ko-KR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ko-KR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ko-KR" sz="17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ko-KR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altLang="ko-KR" sz="3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altLang="ko-KR" sz="1300" b="1" dirty="0">
                <a:solidFill>
                  <a:srgbClr val="0070C0"/>
                </a:solidFill>
              </a:rPr>
              <a:t/>
            </a:r>
            <a:br>
              <a:rPr lang="en-US" altLang="ko-KR" sz="1300" b="1" dirty="0">
                <a:solidFill>
                  <a:srgbClr val="0070C0"/>
                </a:solidFill>
              </a:rPr>
            </a:br>
            <a:r>
              <a:rPr lang="en-US" altLang="ko-KR" sz="2400" dirty="0">
                <a:solidFill>
                  <a:srgbClr val="000000"/>
                </a:solidFill>
              </a:rPr>
              <a:t>2015. 07. </a:t>
            </a:r>
            <a:r>
              <a:rPr lang="en-US" altLang="ko-KR" sz="2400" dirty="0" smtClean="0">
                <a:solidFill>
                  <a:srgbClr val="000000"/>
                </a:solidFill>
              </a:rPr>
              <a:t>07</a:t>
            </a:r>
            <a:r>
              <a:rPr lang="en-US" altLang="ko-KR" sz="2400" dirty="0">
                <a:solidFill>
                  <a:srgbClr val="000000"/>
                </a:solidFill>
              </a:rPr>
              <a:t/>
            </a:r>
            <a:br>
              <a:rPr lang="en-US" altLang="ko-KR" sz="2400" dirty="0">
                <a:solidFill>
                  <a:srgbClr val="000000"/>
                </a:solidFill>
              </a:rPr>
            </a:br>
            <a:r>
              <a:rPr lang="en-US" altLang="ko-KR" sz="2400" dirty="0">
                <a:solidFill>
                  <a:srgbClr val="000000"/>
                </a:solidFill>
              </a:rPr>
              <a:t/>
            </a:r>
            <a:br>
              <a:rPr lang="en-US" altLang="ko-KR" sz="2400" dirty="0">
                <a:solidFill>
                  <a:srgbClr val="000000"/>
                </a:solidFill>
              </a:rPr>
            </a:br>
            <a:r>
              <a:rPr lang="en-US" altLang="ko-KR" sz="2600" b="1" dirty="0">
                <a:solidFill>
                  <a:srgbClr val="000000"/>
                </a:solidFill>
              </a:rPr>
              <a:t/>
            </a:r>
            <a:br>
              <a:rPr lang="en-US" altLang="ko-KR" sz="2600" b="1" dirty="0">
                <a:solidFill>
                  <a:srgbClr val="000000"/>
                </a:solidFill>
              </a:rPr>
            </a:br>
            <a:r>
              <a:rPr lang="ko-KR" altLang="en-US" sz="3000" b="1" dirty="0" err="1">
                <a:solidFill>
                  <a:srgbClr val="000000"/>
                </a:solidFill>
              </a:rPr>
              <a:t>성남모바일앱센터</a:t>
            </a:r>
            <a:r>
              <a:rPr lang="en-US" altLang="ko-KR" sz="2800" b="1" dirty="0">
                <a:solidFill>
                  <a:srgbClr val="000000"/>
                </a:solidFill>
              </a:rPr>
              <a:t/>
            </a:r>
            <a:br>
              <a:rPr lang="en-US" altLang="ko-KR" sz="2800" b="1" dirty="0">
                <a:solidFill>
                  <a:srgbClr val="000000"/>
                </a:solidFill>
              </a:rPr>
            </a:br>
            <a:endParaRPr lang="ko-KR" altLang="en-US" sz="1900" b="1" dirty="0">
              <a:solidFill>
                <a:srgbClr val="00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8058" y="417470"/>
            <a:ext cx="3643370" cy="486801"/>
          </a:xfrm>
          <a:prstGeom prst="rect">
            <a:avLst/>
          </a:prstGeom>
          <a:solidFill>
            <a:srgbClr val="FAF1D2"/>
          </a:solidFill>
        </p:spPr>
        <p:txBody>
          <a:bodyPr wrap="none" lIns="85186" tIns="42593" rIns="85186" bIns="42593">
            <a:spAutoFit/>
          </a:bodyPr>
          <a:lstStyle/>
          <a:p>
            <a:pPr>
              <a:defRPr/>
            </a:pPr>
            <a:r>
              <a:rPr lang="ko-KR" altLang="en-US" sz="2600" b="1" dirty="0">
                <a:solidFill>
                  <a:srgbClr val="C00000"/>
                </a:solidFill>
                <a:latin typeface="+mj-ea"/>
                <a:ea typeface="+mj-ea"/>
              </a:rPr>
              <a:t>아두이노와</a:t>
            </a:r>
            <a:r>
              <a:rPr lang="en-US" altLang="ko-KR" sz="2600" b="1" dirty="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ko-KR" altLang="en-US" sz="2600" b="1" dirty="0">
                <a:solidFill>
                  <a:srgbClr val="C00000"/>
                </a:solidFill>
                <a:latin typeface="+mj-ea"/>
                <a:ea typeface="+mj-ea"/>
              </a:rPr>
              <a:t>사물인터넷</a:t>
            </a:r>
            <a:endParaRPr lang="ko-KR" altLang="en-US" sz="1500" dirty="0">
              <a:solidFill>
                <a:srgbClr val="C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1004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77700" y="1422051"/>
            <a:ext cx="6723485" cy="4683620"/>
          </a:xfrm>
        </p:spPr>
        <p:txBody>
          <a:bodyPr rtlCol="0">
            <a:normAutofit/>
          </a:bodyPr>
          <a:lstStyle/>
          <a:p>
            <a:pPr defTabSz="457109" eaLnBrk="1" fontAlgn="auto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ko-KR" altLang="en-US" sz="3400" b="1" dirty="0">
                <a:solidFill>
                  <a:srgbClr val="000000"/>
                </a:solidFill>
                <a:latin typeface="+mj-ea"/>
                <a:ea typeface="+mj-ea"/>
              </a:rPr>
              <a:t>목   차</a:t>
            </a:r>
            <a:r>
              <a:rPr lang="ko-KR" altLang="en-US" sz="2800" b="1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endParaRPr lang="en-US" altLang="ko-KR" sz="2600" b="1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514247" indent="-514247" algn="l" defTabSz="457109" eaLnBrk="1" fontAlgn="auto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Wingdings 2" panose="05020102010507070707" pitchFamily="18" charset="2"/>
              <a:buAutoNum type="arabicPeriod"/>
              <a:defRPr/>
            </a:pPr>
            <a:r>
              <a:rPr lang="ko-KR" altLang="en-US" sz="2600" b="1" dirty="0" smtClean="0">
                <a:solidFill>
                  <a:srgbClr val="000000"/>
                </a:solidFill>
                <a:latin typeface="+mj-ea"/>
                <a:ea typeface="+mj-ea"/>
              </a:rPr>
              <a:t>적외선 </a:t>
            </a:r>
            <a:r>
              <a:rPr lang="ko-KR" altLang="en-US" sz="2600" b="1" dirty="0" err="1" smtClean="0">
                <a:solidFill>
                  <a:srgbClr val="000000"/>
                </a:solidFill>
                <a:latin typeface="+mj-ea"/>
                <a:ea typeface="+mj-ea"/>
              </a:rPr>
              <a:t>리모콘</a:t>
            </a:r>
            <a:endParaRPr lang="en-US" altLang="ko-KR" sz="2600" b="1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marL="514247" indent="-514247" algn="l" defTabSz="457109" eaLnBrk="1" fontAlgn="auto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Wingdings 2" panose="05020102010507070707" pitchFamily="18" charset="2"/>
              <a:buAutoNum type="arabicPeriod"/>
              <a:defRPr/>
            </a:pPr>
            <a:r>
              <a:rPr lang="ko-KR" altLang="en-US" sz="2600" b="1" dirty="0" smtClean="0">
                <a:solidFill>
                  <a:srgbClr val="000000"/>
                </a:solidFill>
                <a:latin typeface="+mj-ea"/>
                <a:ea typeface="+mj-ea"/>
              </a:rPr>
              <a:t>라인추적 센서</a:t>
            </a:r>
            <a:endParaRPr lang="en-US" altLang="ko-KR" sz="2600" b="1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514247" indent="-514247" algn="l" defTabSz="457109" eaLnBrk="1" fontAlgn="auto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Wingdings 2" panose="05020102010507070707" pitchFamily="18" charset="2"/>
              <a:buAutoNum type="arabicPeriod"/>
              <a:defRPr/>
            </a:pPr>
            <a:r>
              <a:rPr lang="ko-KR" altLang="en-US" sz="2600" b="1" dirty="0" smtClean="0">
                <a:solidFill>
                  <a:srgbClr val="000000"/>
                </a:solidFill>
                <a:latin typeface="+mj-ea"/>
                <a:ea typeface="+mj-ea"/>
              </a:rPr>
              <a:t>초음파 센서</a:t>
            </a:r>
            <a:endParaRPr lang="en-US" altLang="ko-KR" sz="2600" b="1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marL="514247" indent="-514247" algn="l" defTabSz="457109" eaLnBrk="1" fontAlgn="auto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Wingdings 2" panose="05020102010507070707" pitchFamily="18" charset="2"/>
              <a:buAutoNum type="arabicPeriod"/>
              <a:defRPr/>
            </a:pPr>
            <a:r>
              <a:rPr lang="ko-KR" altLang="en-US" sz="2600" b="1" u="sng" dirty="0" err="1" smtClean="0">
                <a:solidFill>
                  <a:srgbClr val="000000"/>
                </a:solidFill>
                <a:latin typeface="+mj-ea"/>
                <a:ea typeface="+mj-ea"/>
              </a:rPr>
              <a:t>블루투스</a:t>
            </a:r>
            <a:endParaRPr lang="en-US" altLang="ko-KR" sz="2600" b="1" u="sng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pPr marL="514247" indent="-514247" algn="l" defTabSz="457109" eaLnBrk="1" fontAlgn="auto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Wingdings 2" panose="05020102010507070707" pitchFamily="18" charset="2"/>
              <a:buAutoNum type="arabicPeriod"/>
              <a:defRPr/>
            </a:pPr>
            <a:r>
              <a:rPr lang="en-US" altLang="ko-KR" sz="2600" b="1" u="sng" dirty="0" smtClean="0">
                <a:solidFill>
                  <a:srgbClr val="000000"/>
                </a:solidFill>
                <a:latin typeface="+mj-ea"/>
                <a:ea typeface="+mj-ea"/>
              </a:rPr>
              <a:t>LCD</a:t>
            </a:r>
          </a:p>
          <a:p>
            <a:pPr marL="514247" indent="-514247" algn="l" defTabSz="457109" eaLnBrk="1" fontAlgn="auto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Font typeface="Wingdings 2" panose="05020102010507070707" pitchFamily="18" charset="2"/>
              <a:buAutoNum type="arabicPeriod"/>
              <a:defRPr/>
            </a:pPr>
            <a:r>
              <a:rPr lang="en-US" altLang="ko-KR" sz="2600" b="1" u="sng" dirty="0" smtClean="0">
                <a:solidFill>
                  <a:srgbClr val="000000"/>
                </a:solidFill>
                <a:latin typeface="+mj-ea"/>
                <a:ea typeface="+mj-ea"/>
              </a:rPr>
              <a:t>GPS</a:t>
            </a:r>
            <a:endParaRPr lang="ko-KR" altLang="en-US" sz="2600" b="1" u="sng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307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692207" indent="-26623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064933" indent="-212987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490906" indent="-212987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916880" indent="-212987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342853" indent="-212987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768826" indent="-212987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194799" indent="-212987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620773" indent="-212987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fld id="{9C7F1B45-7A47-4FD6-B05B-D8E11171ED62}" type="slidenum">
              <a:rPr lang="en-US" altLang="ko-KR" sz="1700" b="1">
                <a:solidFill>
                  <a:schemeClr val="tx2"/>
                </a:solidFill>
              </a:rPr>
              <a:pPr/>
              <a:t>2</a:t>
            </a:fld>
            <a:endParaRPr lang="en-US" altLang="ko-KR" sz="1700" b="1">
              <a:solidFill>
                <a:schemeClr val="tx2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1153572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86" tIns="42593" rIns="85186" bIns="42593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22" tIns="45711" rIns="91422" bIns="45711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eaLnBrk="1" latin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ko-KR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41229" y="544333"/>
            <a:ext cx="2911586" cy="547691"/>
          </a:xfrm>
          <a:prstGeom prst="rect">
            <a:avLst/>
          </a:prstGeom>
        </p:spPr>
        <p:txBody>
          <a:bodyPr wrap="none" lIns="85195" tIns="42597" rIns="85195" bIns="42597">
            <a:spAutoFit/>
          </a:bodyPr>
          <a:lstStyle/>
          <a:p>
            <a:pPr>
              <a:defRPr/>
            </a:pPr>
            <a:r>
              <a:rPr lang="en-US" altLang="ko-KR" sz="3000" b="1" dirty="0" smtClean="0">
                <a:solidFill>
                  <a:srgbClr val="0000FF"/>
                </a:solidFill>
                <a:latin typeface="+mj-ea"/>
                <a:ea typeface="+mj-ea"/>
              </a:rPr>
              <a:t>2.2 </a:t>
            </a:r>
            <a:r>
              <a:rPr lang="ko-KR" altLang="en-US" sz="3000" b="1" dirty="0">
                <a:solidFill>
                  <a:srgbClr val="0000FF"/>
                </a:solidFill>
                <a:latin typeface="+mj-ea"/>
                <a:ea typeface="+mj-ea"/>
              </a:rPr>
              <a:t>자동차 </a:t>
            </a:r>
            <a:r>
              <a:rPr lang="ko-KR" altLang="en-US" sz="3000" b="1" dirty="0" smtClean="0">
                <a:solidFill>
                  <a:srgbClr val="0000FF"/>
                </a:solidFill>
                <a:latin typeface="+mj-ea"/>
                <a:ea typeface="+mj-ea"/>
              </a:rPr>
              <a:t>부품</a:t>
            </a:r>
            <a:endParaRPr lang="ko-KR" altLang="en-US" sz="3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7010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71356" y="1153575"/>
            <a:ext cx="8147928" cy="521910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실습 내용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/>
              <a:t>    </a:t>
            </a:r>
            <a:r>
              <a:rPr lang="ko-KR" altLang="en-US" sz="2200" dirty="0"/>
              <a:t>자동차키트 부품들의 </a:t>
            </a:r>
            <a:r>
              <a:rPr lang="ko-KR" altLang="en-US" sz="2200" dirty="0" err="1"/>
              <a:t>아두이노</a:t>
            </a:r>
            <a:r>
              <a:rPr lang="ko-KR" altLang="en-US" sz="2200" dirty="0"/>
              <a:t> 연결 및 작동 </a:t>
            </a:r>
            <a:r>
              <a:rPr lang="ko-KR" altLang="en-US" sz="2200" dirty="0" smtClean="0"/>
              <a:t>실습</a:t>
            </a:r>
            <a:endParaRPr lang="en-US" altLang="ko-KR" sz="2200" dirty="0" smtClean="0"/>
          </a:p>
          <a:p>
            <a:pPr eaLnBrk="1" hangingPunct="1">
              <a:buFont typeface="Wingdings 3" pitchFamily="18" charset="2"/>
              <a:buNone/>
              <a:defRPr/>
            </a:pPr>
            <a:endParaRPr lang="en-US" altLang="ko-KR" sz="2200" dirty="0"/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실습 부품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ko-KR" altLang="en-US" sz="2200" b="1" dirty="0">
                <a:solidFill>
                  <a:srgbClr val="0000FF"/>
                </a:solidFill>
              </a:rPr>
              <a:t>    </a:t>
            </a:r>
            <a:r>
              <a:rPr lang="ko-KR" altLang="en-US" sz="2200" dirty="0">
                <a:latin typeface="+mn-ea"/>
              </a:rPr>
              <a:t>적외선 </a:t>
            </a:r>
            <a:r>
              <a:rPr lang="ko-KR" altLang="en-US" sz="2200" dirty="0" err="1">
                <a:latin typeface="+mn-ea"/>
              </a:rPr>
              <a:t>리모콘</a:t>
            </a:r>
            <a:r>
              <a:rPr lang="en-US" altLang="ko-KR" sz="2200" dirty="0">
                <a:latin typeface="+mn-ea"/>
              </a:rPr>
              <a:t>, </a:t>
            </a:r>
            <a:r>
              <a:rPr lang="ko-KR" altLang="en-US" sz="2200" dirty="0" smtClean="0">
                <a:latin typeface="+mn-ea"/>
              </a:rPr>
              <a:t>라인추적센서</a:t>
            </a:r>
            <a:r>
              <a:rPr lang="en-US" altLang="ko-KR" sz="2200" dirty="0">
                <a:latin typeface="+mn-ea"/>
              </a:rPr>
              <a:t>, </a:t>
            </a:r>
            <a:r>
              <a:rPr lang="ko-KR" altLang="en-US" sz="2200" dirty="0">
                <a:latin typeface="+mn-ea"/>
              </a:rPr>
              <a:t>초음파센서</a:t>
            </a:r>
            <a:r>
              <a:rPr lang="en-US" altLang="ko-KR" sz="2200" dirty="0">
                <a:latin typeface="+mn-ea"/>
              </a:rPr>
              <a:t>, </a:t>
            </a:r>
            <a:r>
              <a:rPr lang="ko-KR" altLang="en-US" sz="2200" dirty="0" err="1">
                <a:latin typeface="+mn-ea"/>
              </a:rPr>
              <a:t>블루투스</a:t>
            </a:r>
            <a:r>
              <a:rPr lang="en-US" altLang="ko-KR" sz="2200" dirty="0">
                <a:latin typeface="+mn-ea"/>
              </a:rPr>
              <a:t>, LCD, </a:t>
            </a:r>
            <a:r>
              <a:rPr lang="en-US" altLang="ko-KR" sz="2200" dirty="0" smtClean="0">
                <a:latin typeface="+mn-ea"/>
              </a:rPr>
              <a:t>GPS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/>
              <a:t>   </a:t>
            </a:r>
            <a:endParaRPr lang="en-US" altLang="ko-KR" sz="2200" dirty="0">
              <a:solidFill>
                <a:srgbClr val="FF0000"/>
              </a:solidFill>
            </a:endParaRPr>
          </a:p>
        </p:txBody>
      </p:sp>
      <p:sp>
        <p:nvSpPr>
          <p:cNvPr id="4403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6C16AA9-FE48-483E-AE7B-B868327625D1}" type="slidenum">
              <a:rPr lang="en-US" altLang="ko-KR" sz="1700" b="1">
                <a:solidFill>
                  <a:srgbClr val="1F497D"/>
                </a:solidFill>
              </a:rPr>
              <a:pPr/>
              <a:t>3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20810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62054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44039" name="직사각형 8"/>
          <p:cNvSpPr>
            <a:spLocks noChangeArrowheads="1"/>
          </p:cNvSpPr>
          <p:nvPr/>
        </p:nvSpPr>
        <p:spPr bwMode="auto">
          <a:xfrm>
            <a:off x="201586" y="485329"/>
            <a:ext cx="8740828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600" b="1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2.2.    </a:t>
            </a:r>
            <a:r>
              <a:rPr lang="ko-KR" altLang="en-US" sz="2600" b="1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자동차 키트의 부품 실습</a:t>
            </a:r>
            <a:endParaRPr lang="en-US" altLang="ko-KR" sz="2600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741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71356" y="1153575"/>
            <a:ext cx="8147928" cy="521910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실습 내용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</a:t>
            </a:r>
            <a:r>
              <a:rPr lang="ko-KR" altLang="en-US" sz="2200"/>
              <a:t>원격지에서 적외선 리모트 컨트롤 신호 또는 </a:t>
            </a:r>
            <a:r>
              <a:rPr lang="en-US" altLang="ko-KR" sz="2200"/>
              <a:t>RF</a:t>
            </a:r>
            <a:r>
              <a:rPr lang="ko-KR" altLang="en-US" sz="2200"/>
              <a:t>로 제어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실습 부품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IR </a:t>
            </a:r>
            <a:r>
              <a:rPr lang="ko-KR" altLang="en-US" sz="2200"/>
              <a:t>수신</a:t>
            </a:r>
            <a:r>
              <a:rPr lang="en-US" altLang="ko-KR" sz="2200"/>
              <a:t> </a:t>
            </a:r>
            <a:r>
              <a:rPr lang="ko-KR" altLang="en-US" sz="2200"/>
              <a:t>모듈</a:t>
            </a:r>
            <a:r>
              <a:rPr lang="en-US" altLang="ko-KR" sz="2200"/>
              <a:t>, IR </a:t>
            </a:r>
            <a:r>
              <a:rPr lang="ko-KR" altLang="en-US" sz="2200"/>
              <a:t>리모트 컨트롤러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관련 설명</a:t>
            </a:r>
            <a:r>
              <a:rPr lang="en-US" altLang="ko-KR" sz="2200"/>
              <a:t>  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- IR: </a:t>
            </a:r>
            <a:r>
              <a:rPr lang="ko-KR" altLang="en-US" sz="2200"/>
              <a:t>적외선</a:t>
            </a:r>
            <a:r>
              <a:rPr lang="en-US" altLang="ko-KR" sz="2200"/>
              <a:t>(Infrared)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</a:t>
            </a:r>
          </a:p>
        </p:txBody>
      </p:sp>
      <p:sp>
        <p:nvSpPr>
          <p:cNvPr id="4505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78654E9-8E53-4D7F-9F6B-476A9D896B4F}" type="slidenum">
              <a:rPr lang="en-US" altLang="ko-KR" sz="1700" b="1">
                <a:solidFill>
                  <a:srgbClr val="1F497D"/>
                </a:solidFill>
              </a:rPr>
              <a:pPr/>
              <a:t>4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20810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62054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45063" name="직사각형 8"/>
          <p:cNvSpPr>
            <a:spLocks noChangeArrowheads="1"/>
          </p:cNvSpPr>
          <p:nvPr/>
        </p:nvSpPr>
        <p:spPr bwMode="auto">
          <a:xfrm>
            <a:off x="201586" y="485329"/>
            <a:ext cx="8740828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pic>
        <p:nvPicPr>
          <p:cNvPr id="4506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85563"/>
            <a:ext cx="2497591" cy="248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897" y="4115687"/>
            <a:ext cx="3298006" cy="202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12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29"/>
            <a:ext cx="8147927" cy="1604970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 err="1">
                <a:solidFill>
                  <a:srgbClr val="0000FF"/>
                </a:solidFill>
              </a:rPr>
              <a:t>아두이노와</a:t>
            </a:r>
            <a:r>
              <a:rPr lang="ko-KR" altLang="en-US" sz="2200" b="1" dirty="0">
                <a:solidFill>
                  <a:srgbClr val="0000FF"/>
                </a:solidFill>
              </a:rPr>
              <a:t> 연결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>
                <a:latin typeface="+mn-ea"/>
              </a:rPr>
              <a:t>    - IR </a:t>
            </a:r>
            <a:r>
              <a:rPr lang="ko-KR" altLang="en-US" sz="2200" dirty="0">
                <a:latin typeface="+mn-ea"/>
              </a:rPr>
              <a:t>수신기의 신호 포트와 </a:t>
            </a:r>
            <a:r>
              <a:rPr lang="ko-KR" altLang="en-US" sz="2200" dirty="0" err="1">
                <a:latin typeface="+mn-ea"/>
              </a:rPr>
              <a:t>아두이노</a:t>
            </a:r>
            <a:r>
              <a:rPr lang="ko-KR" altLang="en-US" sz="2200" dirty="0">
                <a:latin typeface="+mn-ea"/>
              </a:rPr>
              <a:t> </a:t>
            </a:r>
            <a:r>
              <a:rPr lang="ko-KR" altLang="en-US" sz="2200" dirty="0" err="1">
                <a:latin typeface="+mn-ea"/>
              </a:rPr>
              <a:t>우노의</a:t>
            </a:r>
            <a:r>
              <a:rPr lang="ko-KR" altLang="en-US" sz="2200" dirty="0">
                <a:latin typeface="+mn-ea"/>
              </a:rPr>
              <a:t> </a:t>
            </a:r>
            <a:r>
              <a:rPr lang="en-US" altLang="ko-KR" sz="2200" dirty="0">
                <a:latin typeface="+mn-ea"/>
              </a:rPr>
              <a:t>PWM </a:t>
            </a:r>
            <a:r>
              <a:rPr lang="ko-KR" altLang="en-US" sz="2200" dirty="0">
                <a:latin typeface="+mn-ea"/>
              </a:rPr>
              <a:t>포트와 연결</a:t>
            </a:r>
            <a:r>
              <a:rPr lang="en-US" altLang="ko-KR" sz="2200" dirty="0">
                <a:latin typeface="+mn-ea"/>
              </a:rPr>
              <a:t>. </a:t>
            </a:r>
            <a:r>
              <a:rPr lang="ko-KR" altLang="en-US" sz="2200" dirty="0">
                <a:latin typeface="+mn-ea"/>
              </a:rPr>
              <a:t>또는 아날로그 포트에 연결도 가능</a:t>
            </a:r>
            <a:endParaRPr lang="en-US" altLang="ko-KR" sz="22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>
                <a:latin typeface="+mn-ea"/>
              </a:rPr>
              <a:t>    - </a:t>
            </a:r>
            <a:r>
              <a:rPr lang="ko-KR" altLang="en-US" sz="2200" dirty="0" err="1">
                <a:latin typeface="+mn-ea"/>
              </a:rPr>
              <a:t>브레드보드와의</a:t>
            </a:r>
            <a:r>
              <a:rPr lang="ko-KR" altLang="en-US" sz="2200" dirty="0">
                <a:latin typeface="+mn-ea"/>
              </a:rPr>
              <a:t> 연결은 왼쪽부터 </a:t>
            </a:r>
            <a:r>
              <a:rPr lang="en-US" altLang="ko-KR" sz="2200" dirty="0">
                <a:latin typeface="+mn-ea"/>
              </a:rPr>
              <a:t>SISNAL/VCC/GND</a:t>
            </a:r>
          </a:p>
        </p:txBody>
      </p:sp>
      <p:sp>
        <p:nvSpPr>
          <p:cNvPr id="46083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73CC2C94-AE8A-47A2-B236-4A29A4B82F32}" type="slidenum">
              <a:rPr lang="en-US" altLang="ko-KR" sz="1700" b="1">
                <a:solidFill>
                  <a:srgbClr val="1F497D"/>
                </a:solidFill>
              </a:rPr>
              <a:pPr/>
              <a:t>5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46087" name="직사각형 8"/>
          <p:cNvSpPr>
            <a:spLocks noChangeArrowheads="1"/>
          </p:cNvSpPr>
          <p:nvPr/>
        </p:nvSpPr>
        <p:spPr bwMode="auto">
          <a:xfrm>
            <a:off x="336471" y="551711"/>
            <a:ext cx="8336173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pic>
        <p:nvPicPr>
          <p:cNvPr id="460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930" y="2826400"/>
            <a:ext cx="3415104" cy="3398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9" name="TextBox 1"/>
          <p:cNvSpPr txBox="1">
            <a:spLocks noChangeArrowheads="1"/>
          </p:cNvSpPr>
          <p:nvPr/>
        </p:nvSpPr>
        <p:spPr bwMode="auto">
          <a:xfrm>
            <a:off x="456534" y="3493171"/>
            <a:ext cx="1236414" cy="640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5178" tIns="42589" rIns="85178" bIns="42589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dirty="0" smtClean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Signal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dirty="0" smtClean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(Port#A3)</a:t>
            </a:r>
            <a:endParaRPr kumimoji="1" lang="ko-KR" altLang="en-US" dirty="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6090" name="TextBox 2"/>
          <p:cNvSpPr txBox="1">
            <a:spLocks noChangeArrowheads="1"/>
          </p:cNvSpPr>
          <p:nvPr/>
        </p:nvSpPr>
        <p:spPr bwMode="auto">
          <a:xfrm>
            <a:off x="1295487" y="3295499"/>
            <a:ext cx="442928" cy="363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5178" tIns="42589" rIns="85178" bIns="42589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5V</a:t>
            </a: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6091" name="TextBox 3"/>
          <p:cNvSpPr txBox="1">
            <a:spLocks noChangeArrowheads="1"/>
          </p:cNvSpPr>
          <p:nvPr/>
        </p:nvSpPr>
        <p:spPr bwMode="auto">
          <a:xfrm>
            <a:off x="1737198" y="3124381"/>
            <a:ext cx="678569" cy="363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5178" tIns="42589" rIns="85178" bIns="42589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GND</a:t>
            </a: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570" y="3653380"/>
            <a:ext cx="2908669" cy="193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135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69772" y="1221429"/>
            <a:ext cx="8537759" cy="5285484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코드: </a:t>
            </a:r>
            <a:r>
              <a:rPr lang="ko-KR" altLang="en-US" sz="2200" b="1" dirty="0" err="1">
                <a:solidFill>
                  <a:srgbClr val="0000FF"/>
                </a:solidFill>
              </a:rPr>
              <a:t>아두이노</a:t>
            </a:r>
            <a:r>
              <a:rPr lang="ko-KR" altLang="en-US" sz="2200" b="1" dirty="0">
                <a:solidFill>
                  <a:srgbClr val="0000FF"/>
                </a:solidFill>
              </a:rPr>
              <a:t> 공개소스 </a:t>
            </a:r>
            <a:r>
              <a:rPr lang="en-US" altLang="ko-KR" sz="2200" b="1" dirty="0">
                <a:solidFill>
                  <a:srgbClr val="0000FF"/>
                </a:solidFill>
              </a:rPr>
              <a:t>IR </a:t>
            </a:r>
            <a:r>
              <a:rPr lang="ko-KR" altLang="en-US" sz="2200" b="1" dirty="0">
                <a:solidFill>
                  <a:srgbClr val="0000FF"/>
                </a:solidFill>
              </a:rPr>
              <a:t>라이브러리 </a:t>
            </a:r>
            <a:r>
              <a:rPr lang="en-US" altLang="ko-KR" sz="1700" dirty="0">
                <a:latin typeface="+mn-ea"/>
              </a:rPr>
              <a:t>- </a:t>
            </a:r>
            <a:r>
              <a:rPr lang="en-US" altLang="ko-KR" sz="1600" u="sng" dirty="0">
                <a:latin typeface="+mn-ea"/>
              </a:rPr>
              <a:t>https://github.com/shirriff/Arduino-IRremote 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  <a:defRPr/>
            </a:pPr>
            <a:r>
              <a:rPr lang="en-US" altLang="ko-KR" sz="1600" dirty="0">
                <a:latin typeface="+mn-ea"/>
              </a:rPr>
              <a:t>     or </a:t>
            </a:r>
            <a:r>
              <a:rPr lang="ko-KR" altLang="en-US" sz="1600" dirty="0">
                <a:latin typeface="+mn-ea"/>
              </a:rPr>
              <a:t>다운로드 </a:t>
            </a:r>
            <a:r>
              <a:rPr lang="en-US" altLang="ko-KR" sz="1600" u="sng" dirty="0">
                <a:latin typeface="+mn-ea"/>
              </a:rPr>
              <a:t>Arduino-IRremote-master.zip </a:t>
            </a:r>
          </a:p>
          <a:p>
            <a:pPr marL="0" indent="0">
              <a:buNone/>
              <a:defRPr/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   -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예제 </a:t>
            </a: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build </a:t>
            </a:r>
            <a:r>
              <a:rPr lang="ko-KR" altLang="en-US" sz="1600" b="1" dirty="0">
                <a:solidFill>
                  <a:srgbClr val="0000FF"/>
                </a:solidFill>
                <a:latin typeface="+mn-ea"/>
              </a:rPr>
              <a:t>시 아래 메시지처럼 컴파일 에러 나올 수 있음</a:t>
            </a:r>
            <a:endParaRPr lang="en-US" altLang="ko-KR" sz="1600" b="1" dirty="0">
              <a:solidFill>
                <a:srgbClr val="0000FF"/>
              </a:solidFill>
              <a:latin typeface="+mn-ea"/>
            </a:endParaRPr>
          </a:p>
          <a:p>
            <a:pPr marL="0" indent="0">
              <a:buNone/>
              <a:defRPr/>
            </a:pPr>
            <a:r>
              <a:rPr lang="en-US" altLang="ko-KR" sz="1600" dirty="0">
                <a:latin typeface="+mn-ea"/>
              </a:rPr>
              <a:t>    “………Arduino\arduino-1.5.6-r2-windows\arduino-1.5.6 r2\libraries\</a:t>
            </a:r>
          </a:p>
          <a:p>
            <a:pPr marL="0" indent="0">
              <a:buNone/>
              <a:defRPr/>
            </a:pPr>
            <a:r>
              <a:rPr lang="en-US" altLang="ko-KR" sz="1600" dirty="0">
                <a:latin typeface="+mn-ea"/>
              </a:rPr>
              <a:t>     </a:t>
            </a:r>
            <a:r>
              <a:rPr lang="en-US" altLang="ko-KR" sz="1600" dirty="0" err="1">
                <a:latin typeface="+mn-ea"/>
              </a:rPr>
              <a:t>RobotIRremote</a:t>
            </a:r>
            <a:r>
              <a:rPr lang="en-US" altLang="ko-KR" sz="1600" dirty="0">
                <a:latin typeface="+mn-ea"/>
              </a:rPr>
              <a:t>\</a:t>
            </a:r>
            <a:r>
              <a:rPr lang="en-US" altLang="ko-KR" sz="1600" dirty="0" err="1">
                <a:latin typeface="+mn-ea"/>
              </a:rPr>
              <a:t>src</a:t>
            </a:r>
            <a:r>
              <a:rPr lang="en-US" altLang="ko-KR" sz="1600" dirty="0">
                <a:latin typeface="+mn-ea"/>
              </a:rPr>
              <a:t>\IRremoteTools.cpp:5: error: 'TKD2' was not declared in this  </a:t>
            </a:r>
          </a:p>
          <a:p>
            <a:pPr marL="0" indent="0">
              <a:buNone/>
              <a:defRPr/>
            </a:pPr>
            <a:r>
              <a:rPr lang="en-US" altLang="ko-KR" sz="1600" dirty="0">
                <a:latin typeface="+mn-ea"/>
              </a:rPr>
              <a:t>     scope </a:t>
            </a:r>
          </a:p>
          <a:p>
            <a:pPr marL="0" indent="0">
              <a:buNone/>
              <a:defRPr/>
            </a:pPr>
            <a:r>
              <a:rPr lang="en-US" altLang="ko-KR" sz="1600" dirty="0">
                <a:latin typeface="+mn-ea"/>
              </a:rPr>
              <a:t>   - </a:t>
            </a:r>
            <a:r>
              <a:rPr lang="ko-KR" altLang="en-US" sz="1600" dirty="0">
                <a:latin typeface="+mn-ea"/>
              </a:rPr>
              <a:t>원인</a:t>
            </a:r>
            <a:r>
              <a:rPr lang="en-US" altLang="ko-KR" sz="1600" dirty="0">
                <a:latin typeface="+mn-ea"/>
              </a:rPr>
              <a:t>:  </a:t>
            </a:r>
            <a:r>
              <a:rPr lang="en-US" altLang="ko-KR" sz="1600" dirty="0" err="1">
                <a:latin typeface="+mn-ea"/>
              </a:rPr>
              <a:t>IRRemote.h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라는 라이브러리 헤더 파일 명칭이 </a:t>
            </a:r>
            <a:r>
              <a:rPr lang="ko-KR" altLang="en-US" sz="1600" dirty="0" err="1">
                <a:latin typeface="+mn-ea"/>
              </a:rPr>
              <a:t>아두이노의</a:t>
            </a:r>
            <a:r>
              <a:rPr lang="ko-KR" altLang="en-US" sz="1600" dirty="0">
                <a:latin typeface="+mn-ea"/>
              </a:rPr>
              <a:t> 로봇 </a:t>
            </a:r>
            <a:r>
              <a:rPr lang="en-US" altLang="ko-KR" sz="1600" dirty="0">
                <a:latin typeface="+mn-ea"/>
              </a:rPr>
              <a:t>IR</a:t>
            </a:r>
            <a:r>
              <a:rPr lang="ko-KR" altLang="en-US" sz="1600" dirty="0">
                <a:latin typeface="+mn-ea"/>
              </a:rPr>
              <a:t>과 </a:t>
            </a:r>
            <a:r>
              <a:rPr lang="ko-KR" altLang="en-US" sz="1600" dirty="0" err="1">
                <a:latin typeface="+mn-ea"/>
              </a:rPr>
              <a:t>중복되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  <a:defRPr/>
            </a:pPr>
            <a:r>
              <a:rPr lang="en-US" altLang="ko-KR" sz="1600" dirty="0">
                <a:latin typeface="+mn-ea"/>
              </a:rPr>
              <a:t>     </a:t>
            </a:r>
            <a:r>
              <a:rPr lang="ko-KR" altLang="en-US" sz="1600" dirty="0">
                <a:latin typeface="+mn-ea"/>
              </a:rPr>
              <a:t>어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RobottIRRemote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스케치 기본 라이브러리가 </a:t>
            </a:r>
            <a:r>
              <a:rPr lang="ko-KR" altLang="en-US" sz="1600" dirty="0" err="1">
                <a:latin typeface="+mn-ea"/>
              </a:rPr>
              <a:t>빌드</a:t>
            </a:r>
            <a:r>
              <a:rPr lang="ko-KR" altLang="en-US" sz="1600" dirty="0">
                <a:latin typeface="+mn-ea"/>
              </a:rPr>
              <a:t> 시 나오는 현상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  <a:defRPr/>
            </a:pPr>
            <a:r>
              <a:rPr lang="en-US" altLang="ko-KR" sz="1600" dirty="0">
                <a:latin typeface="+mn-ea"/>
              </a:rPr>
              <a:t>   - </a:t>
            </a:r>
            <a:r>
              <a:rPr lang="ko-KR" altLang="en-US" sz="1600" dirty="0">
                <a:latin typeface="+mn-ea"/>
              </a:rPr>
              <a:t>해결 방안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  <a:defRPr/>
            </a:pPr>
            <a:r>
              <a:rPr lang="en-US" altLang="ko-KR" sz="1600" b="1" dirty="0">
                <a:solidFill>
                  <a:srgbClr val="0000FF"/>
                </a:solidFill>
                <a:latin typeface="+mn-ea"/>
              </a:rPr>
              <a:t>     . </a:t>
            </a:r>
            <a:r>
              <a:rPr lang="en-US" altLang="ko-KR" sz="1600" dirty="0" err="1"/>
              <a:t>RobotIRRemote</a:t>
            </a:r>
            <a:r>
              <a:rPr lang="en-US" altLang="ko-KR" sz="1600" dirty="0"/>
              <a:t> </a:t>
            </a:r>
            <a:r>
              <a:rPr lang="ko-KR" altLang="en-US" sz="1600" dirty="0"/>
              <a:t>라이브러리의 헤더파일 중복을 피하기 위해 </a:t>
            </a:r>
            <a:r>
              <a:rPr lang="en-US" altLang="ko-KR" sz="1600" dirty="0" err="1"/>
              <a:t>RobotIRRemote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       </a:t>
            </a:r>
            <a:r>
              <a:rPr lang="ko-KR" altLang="en-US" sz="1600" dirty="0"/>
              <a:t>디렉터리를 옮기거나 삭제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     . </a:t>
            </a:r>
            <a:r>
              <a:rPr lang="en-US" altLang="ko-KR" sz="1600" u="sng" dirty="0"/>
              <a:t>Arduino-IRremote-master.zip </a:t>
            </a:r>
            <a:r>
              <a:rPr lang="ko-KR" altLang="en-US" sz="1600" dirty="0"/>
              <a:t>압축 해제 후 라이브러리의 헤더 파일 이름을 변경</a:t>
            </a:r>
            <a:r>
              <a:rPr lang="en-US" altLang="ko-KR" sz="1600" dirty="0"/>
              <a:t>.</a:t>
            </a:r>
            <a:r>
              <a:rPr lang="ko-KR" altLang="en-US" sz="1600" dirty="0"/>
              <a:t>      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      </a:t>
            </a:r>
            <a:r>
              <a:rPr lang="en-US" altLang="ko-KR" sz="1600" dirty="0" err="1"/>
              <a:t>IRremote.h</a:t>
            </a:r>
            <a:r>
              <a:rPr lang="en-US" altLang="ko-KR" sz="1600" dirty="0"/>
              <a:t> → </a:t>
            </a:r>
            <a:r>
              <a:rPr lang="en-US" altLang="ko-KR" sz="1600" dirty="0" err="1"/>
              <a:t>IRremoteModule.h</a:t>
            </a:r>
            <a:r>
              <a:rPr lang="en-US" altLang="ko-KR" sz="1600" dirty="0"/>
              <a:t> IRremot.cpp → IRremoteModule.cpp </a:t>
            </a:r>
            <a:r>
              <a:rPr lang="ko-KR" altLang="en-US" sz="1600" dirty="0"/>
              <a:t>변경</a:t>
            </a:r>
            <a:r>
              <a:rPr lang="en-US" altLang="ko-KR" sz="1600" dirty="0"/>
              <a:t>, </a:t>
            </a:r>
            <a:r>
              <a:rPr lang="ko-KR" altLang="en-US" sz="1600" dirty="0"/>
              <a:t>그리</a:t>
            </a:r>
            <a:r>
              <a:rPr lang="en-US" altLang="ko-KR" sz="1600" dirty="0"/>
              <a:t>    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</a:t>
            </a:r>
            <a:r>
              <a:rPr lang="ko-KR" altLang="en-US" sz="1600" dirty="0"/>
              <a:t>고 </a:t>
            </a:r>
            <a:r>
              <a:rPr lang="en-US" altLang="ko-KR" sz="1600" dirty="0"/>
              <a:t>IRRemoteModule.cpp </a:t>
            </a:r>
            <a:r>
              <a:rPr lang="ko-KR" altLang="en-US" sz="1600" dirty="0"/>
              <a:t>의 코드 </a:t>
            </a:r>
            <a:r>
              <a:rPr lang="en-US" altLang="ko-KR" sz="1600" dirty="0"/>
              <a:t>20</a:t>
            </a:r>
            <a:r>
              <a:rPr lang="ko-KR" altLang="en-US" sz="1600" dirty="0"/>
              <a:t>라인의 </a:t>
            </a:r>
            <a:r>
              <a:rPr lang="en-US" altLang="ko-KR" sz="1600" dirty="0"/>
              <a:t>#include "</a:t>
            </a:r>
            <a:r>
              <a:rPr lang="en-US" altLang="ko-KR" sz="1600" dirty="0" err="1"/>
              <a:t>IRremote.h</a:t>
            </a:r>
            <a:r>
              <a:rPr lang="en-US" altLang="ko-KR" sz="1600" dirty="0"/>
              <a:t>" </a:t>
            </a:r>
            <a:r>
              <a:rPr lang="ko-KR" altLang="en-US" sz="1600" dirty="0"/>
              <a:t>부분을   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      #include  “</a:t>
            </a:r>
            <a:r>
              <a:rPr lang="en-US" altLang="ko-KR" sz="1600" dirty="0" err="1"/>
              <a:t>IRremoteModule.h</a:t>
            </a:r>
            <a:r>
              <a:rPr lang="en-US" altLang="ko-KR" sz="1600" dirty="0"/>
              <a:t>” </a:t>
            </a:r>
            <a:r>
              <a:rPr lang="ko-KR" altLang="en-US" sz="1600" dirty="0"/>
              <a:t>로 변경</a:t>
            </a:r>
            <a:endParaRPr lang="en-US" altLang="ko-KR" sz="16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7107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6F4A39B0-9285-4E85-B316-F90D8790E614}" type="slidenum">
              <a:rPr lang="en-US" altLang="ko-KR" sz="1700" b="1">
                <a:solidFill>
                  <a:srgbClr val="1F497D"/>
                </a:solidFill>
              </a:rPr>
              <a:pPr/>
              <a:t>6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47111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</p:spTree>
    <p:extLst>
      <p:ext uri="{BB962C8B-B14F-4D97-AF65-F5344CB8AC3E}">
        <p14:creationId xmlns:p14="http://schemas.microsoft.com/office/powerpoint/2010/main" val="325975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69772" y="1221429"/>
            <a:ext cx="8537759" cy="5285484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코드: </a:t>
            </a:r>
            <a:r>
              <a:rPr lang="ko-KR" altLang="en-US" sz="2200" b="1" dirty="0" err="1">
                <a:solidFill>
                  <a:srgbClr val="0000FF"/>
                </a:solidFill>
              </a:rPr>
              <a:t>아두이노</a:t>
            </a:r>
            <a:r>
              <a:rPr lang="ko-KR" altLang="en-US" sz="2200" b="1" dirty="0">
                <a:solidFill>
                  <a:srgbClr val="0000FF"/>
                </a:solidFill>
              </a:rPr>
              <a:t> 공개소스 </a:t>
            </a:r>
            <a:r>
              <a:rPr lang="en-US" altLang="ko-KR" sz="2200" b="1" dirty="0">
                <a:solidFill>
                  <a:srgbClr val="0000FF"/>
                </a:solidFill>
              </a:rPr>
              <a:t>IR </a:t>
            </a:r>
            <a:r>
              <a:rPr lang="ko-KR" altLang="en-US" sz="2200" b="1" dirty="0">
                <a:solidFill>
                  <a:srgbClr val="0000FF"/>
                </a:solidFill>
              </a:rPr>
              <a:t>라이브러리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700" dirty="0">
                <a:latin typeface="+mn-ea"/>
              </a:rPr>
              <a:t>   - </a:t>
            </a:r>
            <a:r>
              <a:rPr lang="ko-KR" altLang="en-US" sz="1700" dirty="0">
                <a:latin typeface="+mn-ea"/>
              </a:rPr>
              <a:t>위의 </a:t>
            </a:r>
            <a:r>
              <a:rPr lang="en-US" altLang="ko-KR" sz="1700" dirty="0">
                <a:latin typeface="+mn-ea"/>
              </a:rPr>
              <a:t>1 </a:t>
            </a:r>
            <a:r>
              <a:rPr lang="ko-KR" altLang="en-US" sz="1700" dirty="0">
                <a:latin typeface="+mn-ea"/>
              </a:rPr>
              <a:t>번째 방법으로 할 경우 탐색기를 열어서 </a:t>
            </a:r>
            <a:r>
              <a:rPr lang="ko-KR" altLang="en-US" sz="1700" dirty="0" err="1">
                <a:latin typeface="+mn-ea"/>
              </a:rPr>
              <a:t>아두이노</a:t>
            </a:r>
            <a:r>
              <a:rPr lang="ko-KR" altLang="en-US" sz="1700" dirty="0">
                <a:latin typeface="+mn-ea"/>
              </a:rPr>
              <a:t> 스케치 프로그램이 있는 </a:t>
            </a:r>
            <a:r>
              <a:rPr lang="ko-KR" altLang="en-US" sz="1700" dirty="0" err="1">
                <a:latin typeface="+mn-ea"/>
              </a:rPr>
              <a:t>디렉토리로</a:t>
            </a:r>
            <a:r>
              <a:rPr lang="ko-KR" altLang="en-US" sz="1700" dirty="0">
                <a:latin typeface="+mn-ea"/>
              </a:rPr>
              <a:t> 감</a:t>
            </a: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r>
              <a:rPr lang="en-US" altLang="ko-KR" sz="1700" dirty="0">
                <a:latin typeface="+mn-ea"/>
              </a:rPr>
              <a:t>    - </a:t>
            </a:r>
            <a:r>
              <a:rPr lang="ko-KR" altLang="en-US" sz="1700" dirty="0" err="1"/>
              <a:t>아두이노의</a:t>
            </a:r>
            <a:r>
              <a:rPr lang="ko-KR" altLang="en-US" sz="1700" dirty="0"/>
              <a:t> 기본 라이브러리 디렉터리</a:t>
            </a:r>
            <a:r>
              <a:rPr lang="en-US" altLang="ko-KR" sz="1700" dirty="0"/>
              <a:t> →</a:t>
            </a:r>
            <a:r>
              <a:rPr lang="ko-KR" altLang="en-US" sz="1700" dirty="0"/>
              <a:t> </a:t>
            </a:r>
            <a:r>
              <a:rPr lang="en-US" altLang="ko-KR" sz="1700" dirty="0" err="1"/>
              <a:t>RobotIRRemove</a:t>
            </a:r>
            <a:r>
              <a:rPr lang="en-US" altLang="ko-KR" sz="1700" dirty="0"/>
              <a:t> </a:t>
            </a:r>
            <a:r>
              <a:rPr lang="ko-KR" altLang="en-US" sz="1700" dirty="0"/>
              <a:t>라는 디렉터리를 다른 곳으로 옮겨 놓음</a:t>
            </a:r>
            <a:r>
              <a:rPr lang="en-US" altLang="ko-KR" sz="1700" dirty="0"/>
              <a:t>. </a:t>
            </a:r>
            <a:r>
              <a:rPr lang="ko-KR" altLang="en-US" sz="1700" dirty="0"/>
              <a:t>즉</a:t>
            </a:r>
            <a:r>
              <a:rPr lang="en-US" altLang="ko-KR" sz="1700" dirty="0"/>
              <a:t>, </a:t>
            </a:r>
            <a:r>
              <a:rPr lang="ko-KR" altLang="en-US" sz="1700" dirty="0" err="1"/>
              <a:t>아두이노</a:t>
            </a:r>
            <a:r>
              <a:rPr lang="ko-KR" altLang="en-US" sz="1700" dirty="0"/>
              <a:t> 스케치 기본 라이브러리에서 제거 </a:t>
            </a:r>
            <a:r>
              <a:rPr lang="en-US" altLang="ko-KR" sz="1700" dirty="0"/>
              <a:t>or </a:t>
            </a:r>
            <a:r>
              <a:rPr lang="ko-KR" altLang="en-US" sz="1700" dirty="0"/>
              <a:t>잠시 다른 곳으로 옮겨서 참조하지 않게 함</a:t>
            </a:r>
            <a:endParaRPr lang="en-US" altLang="ko-KR" sz="1700" dirty="0">
              <a:latin typeface="+mn-ea"/>
            </a:endParaRPr>
          </a:p>
          <a:p>
            <a:pPr marL="0" indent="0">
              <a:buNone/>
              <a:defRPr/>
            </a:pPr>
            <a:endParaRPr lang="en-US" altLang="ko-KR" sz="17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813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FBAED43-1832-4FD7-B3AD-ADF61492CA92}" type="slidenum">
              <a:rPr lang="en-US" altLang="ko-KR" sz="1700" b="1">
                <a:solidFill>
                  <a:srgbClr val="1F497D"/>
                </a:solidFill>
              </a:rPr>
              <a:pPr/>
              <a:t>7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48135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pic>
        <p:nvPicPr>
          <p:cNvPr id="4813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134" y="2290917"/>
            <a:ext cx="4381531" cy="286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541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31"/>
            <a:ext cx="8147927" cy="80248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코드: </a:t>
            </a:r>
            <a:r>
              <a:rPr lang="en-US" altLang="ko-KR" sz="2200" b="1">
                <a:solidFill>
                  <a:srgbClr val="0000FF"/>
                </a:solidFill>
              </a:rPr>
              <a:t>Irremote </a:t>
            </a:r>
            <a:r>
              <a:rPr lang="ko-KR" altLang="en-US" sz="2200" b="1">
                <a:solidFill>
                  <a:srgbClr val="0000FF"/>
                </a:solidFill>
              </a:rPr>
              <a:t>라이브러리에 포함된 수신기 예제</a:t>
            </a:r>
            <a:r>
              <a:rPr lang="en-US" altLang="ko-KR" sz="2200" b="1">
                <a:solidFill>
                  <a:srgbClr val="0000FF"/>
                </a:solidFill>
              </a:rPr>
              <a:t>(4wd_ex_9)</a:t>
            </a:r>
          </a:p>
        </p:txBody>
      </p:sp>
      <p:sp>
        <p:nvSpPr>
          <p:cNvPr id="4915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99D3CB07-8E68-42EA-803F-8172AEC64E9F}" type="slidenum">
              <a:rPr lang="en-US" altLang="ko-KR" sz="1700" b="1">
                <a:solidFill>
                  <a:srgbClr val="1F497D"/>
                </a:solidFill>
              </a:rPr>
              <a:pPr/>
              <a:t>8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49159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98532" y="1653565"/>
            <a:ext cx="4200696" cy="4610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r>
              <a:rPr lang="en-US" altLang="ko-KR" sz="1400" dirty="0" smtClean="0"/>
              <a:t>/*</a:t>
            </a:r>
            <a:r>
              <a:rPr lang="en-US" altLang="ko-KR" sz="1400" dirty="0" err="1" smtClean="0"/>
              <a:t>IR_remote_tester_and_detector</a:t>
            </a:r>
            <a:r>
              <a:rPr lang="en-US" altLang="ko-KR" sz="1400" dirty="0" smtClean="0"/>
              <a:t> </a:t>
            </a:r>
            <a:endParaRPr lang="en-US" altLang="ko-KR" sz="1400" dirty="0"/>
          </a:p>
          <a:p>
            <a:r>
              <a:rPr lang="ko-KR" altLang="en-US" sz="1400" dirty="0"/>
              <a:t>*</a:t>
            </a:r>
            <a:r>
              <a:rPr lang="en-US" altLang="ko-KR" sz="1400" dirty="0"/>
              <a:t>/ </a:t>
            </a:r>
          </a:p>
          <a:p>
            <a:r>
              <a:rPr lang="en-US" altLang="ko-KR" sz="1400" dirty="0"/>
              <a:t>#include &lt;</a:t>
            </a:r>
            <a:r>
              <a:rPr lang="en-US" altLang="ko-KR" sz="1400" dirty="0" err="1"/>
              <a:t>IRremote.h</a:t>
            </a:r>
            <a:r>
              <a:rPr lang="en-US" altLang="ko-KR" sz="1400" dirty="0"/>
              <a:t>&gt; </a:t>
            </a:r>
          </a:p>
          <a:p>
            <a:r>
              <a:rPr lang="en-US" altLang="ko-KR" sz="1400" dirty="0" err="1"/>
              <a:t>const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irReceiverPin</a:t>
            </a:r>
            <a:r>
              <a:rPr lang="en-US" altLang="ko-KR" sz="1400" dirty="0"/>
              <a:t> = A3; // </a:t>
            </a:r>
            <a:r>
              <a:rPr lang="ko-KR" altLang="en-US" sz="1400" dirty="0"/>
              <a:t>아날로그 포트 </a:t>
            </a:r>
          </a:p>
          <a:p>
            <a:r>
              <a:rPr lang="en-US" altLang="ko-KR" sz="1400" dirty="0" err="1"/>
              <a:t>IRrecv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irrecv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irReceiverPin</a:t>
            </a:r>
            <a:r>
              <a:rPr lang="en-US" altLang="ko-KR" sz="1400" dirty="0"/>
              <a:t>); //create an </a:t>
            </a:r>
            <a:r>
              <a:rPr lang="en-US" altLang="ko-KR" sz="1400" dirty="0" err="1"/>
              <a:t>IRrecv</a:t>
            </a:r>
            <a:r>
              <a:rPr lang="en-US" altLang="ko-KR" sz="1400" dirty="0"/>
              <a:t> object </a:t>
            </a:r>
          </a:p>
          <a:p>
            <a:r>
              <a:rPr lang="en-US" altLang="ko-KR" sz="1400" dirty="0" err="1"/>
              <a:t>decode_results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decodedSignal</a:t>
            </a:r>
            <a:r>
              <a:rPr lang="en-US" altLang="ko-KR" sz="1400" dirty="0"/>
              <a:t>; //stores results from IR sensor </a:t>
            </a:r>
          </a:p>
          <a:p>
            <a:r>
              <a:rPr lang="en-US" altLang="ko-KR" sz="1400" dirty="0"/>
              <a:t>void setup() </a:t>
            </a:r>
          </a:p>
          <a:p>
            <a:r>
              <a:rPr lang="en-US" altLang="ko-KR" sz="1400" dirty="0"/>
              <a:t>{ 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Serial.begin</a:t>
            </a:r>
            <a:r>
              <a:rPr lang="en-US" altLang="ko-KR" sz="1400" dirty="0" smtClean="0"/>
              <a:t>(9600);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pinMode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irReceiverPin</a:t>
            </a:r>
            <a:r>
              <a:rPr lang="en-US" altLang="ko-KR" sz="1400" dirty="0"/>
              <a:t>, INPUT); // 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irrecv.enableIRIn</a:t>
            </a:r>
            <a:r>
              <a:rPr lang="en-US" altLang="ko-KR" sz="1400" dirty="0"/>
              <a:t>(); // Start the receiver object </a:t>
            </a:r>
          </a:p>
          <a:p>
            <a:r>
              <a:rPr lang="en-US" altLang="ko-KR" sz="1400" dirty="0"/>
              <a:t>} </a:t>
            </a:r>
          </a:p>
          <a:p>
            <a:r>
              <a:rPr lang="en-US" altLang="ko-KR" sz="1400" dirty="0"/>
              <a:t>// Dumps out the </a:t>
            </a:r>
            <a:r>
              <a:rPr lang="en-US" altLang="ko-KR" sz="1400" dirty="0" err="1"/>
              <a:t>decode_results</a:t>
            </a:r>
            <a:r>
              <a:rPr lang="en-US" altLang="ko-KR" sz="1400" dirty="0"/>
              <a:t> structure. </a:t>
            </a:r>
          </a:p>
          <a:p>
            <a:r>
              <a:rPr lang="en-US" altLang="ko-KR" sz="1400" dirty="0"/>
              <a:t>// Call this after </a:t>
            </a:r>
            <a:r>
              <a:rPr lang="en-US" altLang="ko-KR" sz="1400" dirty="0" err="1"/>
              <a:t>IRrecv</a:t>
            </a:r>
            <a:r>
              <a:rPr lang="en-US" altLang="ko-KR" sz="1400" dirty="0"/>
              <a:t>::decode() </a:t>
            </a:r>
          </a:p>
          <a:p>
            <a:r>
              <a:rPr lang="en-US" altLang="ko-KR" sz="1400" dirty="0"/>
              <a:t>// void * to work around compiler issue </a:t>
            </a:r>
          </a:p>
          <a:p>
            <a:r>
              <a:rPr lang="en-US" altLang="ko-KR" sz="1400" dirty="0"/>
              <a:t>//void dump(void *v) { </a:t>
            </a:r>
          </a:p>
          <a:p>
            <a:r>
              <a:rPr lang="en-US" altLang="ko-KR" sz="1400" dirty="0"/>
              <a:t>// </a:t>
            </a:r>
            <a:r>
              <a:rPr lang="en-US" altLang="ko-KR" sz="1400" dirty="0" err="1"/>
              <a:t>decode_results</a:t>
            </a:r>
            <a:r>
              <a:rPr lang="en-US" altLang="ko-KR" sz="1400" dirty="0"/>
              <a:t> *results = (</a:t>
            </a:r>
            <a:r>
              <a:rPr lang="en-US" altLang="ko-KR" sz="1400" dirty="0" err="1"/>
              <a:t>decode_results</a:t>
            </a:r>
            <a:r>
              <a:rPr lang="en-US" altLang="ko-KR" sz="1400" dirty="0"/>
              <a:t> *)</a:t>
            </a:r>
            <a:r>
              <a:rPr lang="en-US" altLang="ko-KR" sz="1400" dirty="0" smtClean="0"/>
              <a:t>v</a:t>
            </a:r>
          </a:p>
          <a:p>
            <a:r>
              <a:rPr lang="en-US" altLang="ko-KR" sz="1400" dirty="0"/>
              <a:t>void dump(</a:t>
            </a:r>
            <a:r>
              <a:rPr lang="en-US" altLang="ko-KR" sz="1400" dirty="0" err="1"/>
              <a:t>decode_results</a:t>
            </a:r>
            <a:r>
              <a:rPr lang="en-US" altLang="ko-KR" sz="1400" dirty="0"/>
              <a:t> *results) { </a:t>
            </a:r>
          </a:p>
          <a:p>
            <a:r>
              <a:rPr lang="en-US" altLang="ko-KR" sz="1400" dirty="0"/>
              <a:t>   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count = results-&gt;</a:t>
            </a:r>
            <a:r>
              <a:rPr lang="en-US" altLang="ko-KR" sz="1400" dirty="0" err="1"/>
              <a:t>rawlen</a:t>
            </a:r>
            <a:r>
              <a:rPr lang="en-US" altLang="ko-KR" sz="1400" dirty="0"/>
              <a:t>;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599523" y="1653565"/>
            <a:ext cx="4443686" cy="48257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85169" tIns="42585" rIns="85169" bIns="42585">
            <a:spAutoFit/>
          </a:bodyPr>
          <a:lstStyle/>
          <a:p>
            <a:r>
              <a:rPr lang="en-US" altLang="ko-KR" sz="1400" dirty="0" smtClean="0"/>
              <a:t>   if </a:t>
            </a:r>
            <a:r>
              <a:rPr lang="en-US" altLang="ko-KR" sz="1400" dirty="0"/>
              <a:t>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UNKNOWN) {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("Unknown encoding: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else </a:t>
            </a:r>
            <a:r>
              <a:rPr lang="en-US" altLang="ko-KR" sz="1400" dirty="0"/>
              <a:t>if 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NEC) {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("Decoded NEC: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else </a:t>
            </a:r>
            <a:r>
              <a:rPr lang="en-US" altLang="ko-KR" sz="1400" dirty="0"/>
              <a:t>if 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SONY) {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("Decoded SONY: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else </a:t>
            </a:r>
            <a:r>
              <a:rPr lang="en-US" altLang="ko-KR" sz="1400" dirty="0"/>
              <a:t>if 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RC5) {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("Decoded RC5: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else </a:t>
            </a:r>
            <a:r>
              <a:rPr lang="en-US" altLang="ko-KR" sz="1400" dirty="0"/>
              <a:t>if 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RC6) {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("Decoded RC6: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else </a:t>
            </a:r>
            <a:r>
              <a:rPr lang="en-US" altLang="ko-KR" sz="1400" dirty="0"/>
              <a:t>if 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PANASONIC) </a:t>
            </a:r>
            <a:r>
              <a:rPr lang="en-US" altLang="ko-KR" sz="1400" dirty="0" smtClean="0"/>
              <a:t>   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{  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("Decoded PANASONIC - Address: ");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 smtClean="0"/>
              <a:t>(results-</a:t>
            </a:r>
            <a:r>
              <a:rPr lang="en-US" altLang="ko-KR" sz="1400" dirty="0"/>
              <a:t>&gt;</a:t>
            </a:r>
            <a:r>
              <a:rPr lang="en-US" altLang="ko-KR" sz="1400" dirty="0" err="1"/>
              <a:t>panasonicAddress</a:t>
            </a:r>
            <a:r>
              <a:rPr lang="en-US" altLang="ko-KR" sz="1400" dirty="0"/>
              <a:t>, HEX);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 Value: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   else </a:t>
            </a:r>
            <a:r>
              <a:rPr lang="en-US" altLang="ko-KR" sz="1400" dirty="0"/>
              <a:t>if 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LG) { 	</a:t>
            </a:r>
          </a:p>
        </p:txBody>
      </p:sp>
    </p:spTree>
    <p:extLst>
      <p:ext uri="{BB962C8B-B14F-4D97-AF65-F5344CB8AC3E}">
        <p14:creationId xmlns:p14="http://schemas.microsoft.com/office/powerpoint/2010/main" val="378415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31"/>
            <a:ext cx="8147927" cy="80248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코드: </a:t>
            </a:r>
            <a:r>
              <a:rPr lang="en-US" altLang="ko-KR" sz="2200" b="1">
                <a:solidFill>
                  <a:srgbClr val="0000FF"/>
                </a:solidFill>
              </a:rPr>
              <a:t>Irremote </a:t>
            </a:r>
            <a:r>
              <a:rPr lang="ko-KR" altLang="en-US" sz="2200" b="1">
                <a:solidFill>
                  <a:srgbClr val="0000FF"/>
                </a:solidFill>
              </a:rPr>
              <a:t>라이브러리에 포함된 수신기 예제</a:t>
            </a:r>
            <a:r>
              <a:rPr lang="en-US" altLang="ko-KR" sz="2200" b="1">
                <a:solidFill>
                  <a:srgbClr val="0000FF"/>
                </a:solidFill>
              </a:rPr>
              <a:t>(4wd_ex_9)</a:t>
            </a:r>
          </a:p>
        </p:txBody>
      </p:sp>
      <p:sp>
        <p:nvSpPr>
          <p:cNvPr id="4915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99D3CB07-8E68-42EA-803F-8172AEC64E9F}" type="slidenum">
              <a:rPr lang="en-US" altLang="ko-KR" sz="1700" b="1">
                <a:solidFill>
                  <a:srgbClr val="1F497D"/>
                </a:solidFill>
              </a:rPr>
              <a:pPr/>
              <a:t>9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49159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70511" y="1689424"/>
            <a:ext cx="4200696" cy="4394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 Value: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else </a:t>
            </a:r>
            <a:r>
              <a:rPr lang="en-US" altLang="ko-KR" sz="1400" dirty="0"/>
              <a:t>if 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LG) </a:t>
            </a:r>
            <a:r>
              <a:rPr lang="en-US" altLang="ko-KR" sz="1400" dirty="0" smtClean="0"/>
              <a:t>{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("Decoded LG: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else </a:t>
            </a:r>
            <a:r>
              <a:rPr lang="en-US" altLang="ko-KR" sz="1400" dirty="0"/>
              <a:t>if (results-&gt;</a:t>
            </a:r>
            <a:r>
              <a:rPr lang="en-US" altLang="ko-KR" sz="1400" dirty="0" err="1"/>
              <a:t>decode_type</a:t>
            </a:r>
            <a:r>
              <a:rPr lang="en-US" altLang="ko-KR" sz="1400" dirty="0"/>
              <a:t> == JVC) {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("Decoded JVC: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 smtClean="0"/>
              <a:t>(results-</a:t>
            </a:r>
            <a:r>
              <a:rPr lang="en-US" altLang="ko-KR" sz="1400" dirty="0"/>
              <a:t>&gt;value, HEX);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 (");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 smtClean="0"/>
              <a:t>(results-</a:t>
            </a:r>
            <a:r>
              <a:rPr lang="en-US" altLang="ko-KR" sz="1400" dirty="0"/>
              <a:t>&gt;bits, DEC);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Serial.println</a:t>
            </a:r>
            <a:r>
              <a:rPr lang="en-US" altLang="ko-KR" sz="1400" dirty="0"/>
              <a:t>(" bits)");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("Raw (");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 smtClean="0"/>
              <a:t>(count</a:t>
            </a:r>
            <a:r>
              <a:rPr lang="en-US" altLang="ko-KR" sz="1400" dirty="0"/>
              <a:t>, DEC);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("): "); </a:t>
            </a:r>
          </a:p>
          <a:p>
            <a:r>
              <a:rPr lang="nn-NO" altLang="ko-KR" sz="1400" dirty="0" smtClean="0"/>
              <a:t>      for </a:t>
            </a:r>
            <a:r>
              <a:rPr lang="nn-NO" altLang="ko-KR" sz="1400" dirty="0"/>
              <a:t>(int i = 0; i &lt; count; i++) { </a:t>
            </a:r>
          </a:p>
          <a:p>
            <a:r>
              <a:rPr lang="en-US" altLang="ko-KR" sz="1400" dirty="0" smtClean="0"/>
              <a:t>         if </a:t>
            </a:r>
            <a:r>
              <a:rPr lang="en-US" altLang="ko-KR" sz="1400" dirty="0"/>
              <a:t>((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% 2) == 1) { </a:t>
            </a:r>
          </a:p>
          <a:p>
            <a:r>
              <a:rPr lang="en-US" altLang="ko-KR" sz="1400" dirty="0" smtClean="0"/>
              <a:t>      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 smtClean="0"/>
              <a:t>(results-</a:t>
            </a:r>
            <a:r>
              <a:rPr lang="en-US" altLang="ko-KR" sz="1400" dirty="0"/>
              <a:t>&gt;</a:t>
            </a:r>
            <a:r>
              <a:rPr lang="en-US" altLang="ko-KR" sz="1400" dirty="0" err="1"/>
              <a:t>rawbuf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* USECPERTICK, DEC); </a:t>
            </a:r>
            <a:endParaRPr lang="en-US" altLang="ko-KR" sz="1400" dirty="0" smtClean="0"/>
          </a:p>
          <a:p>
            <a:r>
              <a:rPr lang="en-US" altLang="ko-KR" sz="1400" dirty="0"/>
              <a:t>} 	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599524" y="1653565"/>
            <a:ext cx="4200696" cy="48257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r>
              <a:rPr lang="en-US" altLang="ko-KR" sz="1400" dirty="0" smtClean="0"/>
              <a:t>      else </a:t>
            </a:r>
            <a:r>
              <a:rPr lang="en-US" altLang="ko-KR" sz="1400" dirty="0"/>
              <a:t>{ </a:t>
            </a:r>
          </a:p>
          <a:p>
            <a:r>
              <a:rPr lang="en-US" altLang="ko-KR" sz="1400" dirty="0" smtClean="0"/>
              <a:t>   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(-(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)results-&gt;</a:t>
            </a:r>
            <a:r>
              <a:rPr lang="en-US" altLang="ko-KR" sz="1400" dirty="0" err="1"/>
              <a:t>rawbuf</a:t>
            </a:r>
            <a:r>
              <a:rPr lang="en-US" altLang="ko-KR" sz="1400" dirty="0"/>
              <a:t>[</a:t>
            </a:r>
            <a:r>
              <a:rPr lang="en-US" altLang="ko-KR" sz="1400" dirty="0" err="1"/>
              <a:t>i</a:t>
            </a:r>
            <a:r>
              <a:rPr lang="en-US" altLang="ko-KR" sz="1400" dirty="0"/>
              <a:t>] * USECPERTICK, DEC); </a:t>
            </a:r>
          </a:p>
          <a:p>
            <a:r>
              <a:rPr lang="en-US" altLang="ko-KR" sz="1400" dirty="0" smtClean="0"/>
              <a:t>      } </a:t>
            </a:r>
            <a:endParaRPr lang="en-US" altLang="ko-KR" sz="1400" dirty="0"/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/>
              <a:t>(" 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Serial.println</a:t>
            </a:r>
            <a:r>
              <a:rPr lang="en-US" altLang="ko-KR" sz="1400" dirty="0"/>
              <a:t>(""); </a:t>
            </a:r>
          </a:p>
          <a:p>
            <a:r>
              <a:rPr lang="en-US" altLang="ko-KR" sz="1400" dirty="0"/>
              <a:t>} </a:t>
            </a:r>
          </a:p>
          <a:p>
            <a:r>
              <a:rPr lang="en-US" altLang="ko-KR" sz="1400" dirty="0"/>
              <a:t>void loop() </a:t>
            </a:r>
          </a:p>
          <a:p>
            <a:r>
              <a:rPr lang="en-US" altLang="ko-KR" sz="1400" dirty="0"/>
              <a:t>{ </a:t>
            </a:r>
          </a:p>
          <a:p>
            <a:r>
              <a:rPr lang="en-US" altLang="ko-KR" sz="1400" dirty="0" smtClean="0"/>
              <a:t>   //</a:t>
            </a:r>
            <a:r>
              <a:rPr lang="en-US" altLang="ko-KR" sz="1400" dirty="0"/>
              <a:t>this is true if a message has been received </a:t>
            </a:r>
          </a:p>
          <a:p>
            <a:r>
              <a:rPr lang="en-US" altLang="ko-KR" sz="1400" dirty="0" smtClean="0"/>
              <a:t>   if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irrecv.decode</a:t>
            </a:r>
            <a:r>
              <a:rPr lang="en-US" altLang="ko-KR" sz="1400" dirty="0"/>
              <a:t>(&amp;</a:t>
            </a:r>
            <a:r>
              <a:rPr lang="en-US" altLang="ko-KR" sz="1400" dirty="0" err="1"/>
              <a:t>decodedSignal</a:t>
            </a:r>
            <a:r>
              <a:rPr lang="en-US" altLang="ko-KR" sz="1400" dirty="0"/>
              <a:t>) == true) </a:t>
            </a:r>
          </a:p>
          <a:p>
            <a:r>
              <a:rPr lang="en-US" altLang="ko-KR" sz="1400" dirty="0" smtClean="0"/>
              <a:t>   { </a:t>
            </a:r>
            <a:endParaRPr lang="en-US" altLang="ko-KR" sz="1400" dirty="0"/>
          </a:p>
          <a:p>
            <a:r>
              <a:rPr lang="en-US" altLang="ko-KR" sz="1400" dirty="0" smtClean="0"/>
              <a:t>      if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decodedSignal.bits</a:t>
            </a:r>
            <a:r>
              <a:rPr lang="en-US" altLang="ko-KR" sz="1400" dirty="0"/>
              <a:t> &gt; 0) // bit &gt; 0 </a:t>
            </a:r>
            <a:r>
              <a:rPr lang="ko-KR" altLang="en-US" sz="1400" dirty="0"/>
              <a:t>인 경우에만 처리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 smtClean="0"/>
              <a:t>      { </a:t>
            </a:r>
            <a:endParaRPr lang="en-US" altLang="ko-KR" sz="1400" dirty="0"/>
          </a:p>
          <a:p>
            <a:r>
              <a:rPr lang="en-US" altLang="ko-KR" sz="1400" dirty="0" smtClean="0"/>
              <a:t>          dump</a:t>
            </a:r>
            <a:r>
              <a:rPr lang="en-US" altLang="ko-KR" sz="1400" dirty="0"/>
              <a:t>(&amp;</a:t>
            </a:r>
            <a:r>
              <a:rPr lang="en-US" altLang="ko-KR" sz="1400" dirty="0" err="1"/>
              <a:t>decodedSignal</a:t>
            </a:r>
            <a:r>
              <a:rPr lang="en-US" altLang="ko-KR" sz="1400" dirty="0" smtClean="0"/>
              <a:t>);</a:t>
            </a:r>
          </a:p>
          <a:p>
            <a:r>
              <a:rPr lang="en-US" altLang="ko-KR" sz="1400" dirty="0" smtClean="0"/>
              <a:t>      } </a:t>
            </a:r>
            <a:endParaRPr lang="en-US" altLang="ko-KR" sz="1400" dirty="0"/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irrecv.resume</a:t>
            </a:r>
            <a:r>
              <a:rPr lang="en-US" altLang="ko-KR" sz="1400" dirty="0"/>
              <a:t>(); // watch out for another message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/>
              <a:t>} 	</a:t>
            </a:r>
          </a:p>
        </p:txBody>
      </p:sp>
    </p:spTree>
    <p:extLst>
      <p:ext uri="{BB962C8B-B14F-4D97-AF65-F5344CB8AC3E}">
        <p14:creationId xmlns:p14="http://schemas.microsoft.com/office/powerpoint/2010/main" val="2988277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57326" y="1171274"/>
            <a:ext cx="8147928" cy="1604970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</a:t>
            </a:r>
            <a:r>
              <a:rPr lang="en-US" altLang="ko-KR" sz="2200" b="1">
                <a:solidFill>
                  <a:srgbClr val="0000FF"/>
                </a:solidFill>
              </a:rPr>
              <a:t>(</a:t>
            </a:r>
            <a:r>
              <a:rPr lang="ko-KR" altLang="en-US" sz="2200" b="1">
                <a:solidFill>
                  <a:srgbClr val="0000FF"/>
                </a:solidFill>
              </a:rPr>
              <a:t>계속</a:t>
            </a:r>
            <a:r>
              <a:rPr lang="en-US" altLang="ko-KR" sz="2200" b="1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</p:txBody>
      </p:sp>
      <p:sp>
        <p:nvSpPr>
          <p:cNvPr id="5017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D22D6A9-919E-4741-8F3C-400D67BAD2B3}" type="slidenum">
              <a:rPr lang="en-US" altLang="ko-KR" sz="1700" b="1">
                <a:solidFill>
                  <a:srgbClr val="1F497D"/>
                </a:solidFill>
              </a:rPr>
              <a:pPr/>
              <a:t>10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50183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97350" y="1957534"/>
            <a:ext cx="7538723" cy="3689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void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ShowReaderDetails</a:t>
            </a: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()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// Get the MFRC522 software version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byte v = mfrc522.PCD_ReadRegister(mfrc522.VersionReg);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de-DE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Serial.print("MFRC522 Software Version: 0x");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Serial.print</a:t>
            </a: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(v, HEX);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if (v == 0x91)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Serial.print</a:t>
            </a: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(" = v1.0");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else if (v == 0x92)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Serial.print</a:t>
            </a: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(" = v2.0");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else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Serial.print</a:t>
            </a: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(" (unknown)");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Serial.println</a:t>
            </a: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("");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// When 0x00 or 0xFF is returned, communication probably failed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if ((v == 0x00) || (v == 0xFF))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Serial.println</a:t>
            </a: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("WARNING: Communication failure, is the MFRC522 properly connected?"); 	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    }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charset="-127"/>
                <a:ea typeface="굴림" charset="-127"/>
              </a:rPr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188769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29"/>
            <a:ext cx="8147927" cy="1604970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결과 확인 확인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ko-KR" altLang="en-US" sz="2200"/>
              <a:t>    예제 코드</a:t>
            </a:r>
            <a:r>
              <a:rPr lang="en-US" altLang="ko-KR" sz="2200"/>
              <a:t> </a:t>
            </a:r>
            <a:r>
              <a:rPr lang="ko-KR" altLang="en-US" sz="2200"/>
              <a:t>실행 후 시리얼 모니터 창 열어 입력 받은 수신  값 기록 </a:t>
            </a:r>
            <a:endParaRPr lang="en-US" altLang="ko-KR" sz="2200" b="1">
              <a:solidFill>
                <a:srgbClr val="0000FF"/>
              </a:solidFill>
            </a:endParaRPr>
          </a:p>
        </p:txBody>
      </p:sp>
      <p:sp>
        <p:nvSpPr>
          <p:cNvPr id="51203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C3A620C1-62C8-4BED-AFA4-7C360BC65763}" type="slidenum">
              <a:rPr lang="en-US" altLang="ko-KR" sz="1700" b="1">
                <a:solidFill>
                  <a:srgbClr val="1F497D"/>
                </a:solidFill>
              </a:rPr>
              <a:pPr/>
              <a:t>11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51207" name="직사각형 8"/>
          <p:cNvSpPr>
            <a:spLocks noChangeArrowheads="1"/>
          </p:cNvSpPr>
          <p:nvPr/>
        </p:nvSpPr>
        <p:spPr bwMode="auto">
          <a:xfrm>
            <a:off x="624028" y="551711"/>
            <a:ext cx="6982879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pic>
        <p:nvPicPr>
          <p:cNvPr id="512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571" y="2090297"/>
            <a:ext cx="2608760" cy="403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508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32"/>
            <a:ext cx="8147927" cy="1739209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 err="1">
                <a:solidFill>
                  <a:srgbClr val="0000FF"/>
                </a:solidFill>
              </a:rPr>
              <a:t>리모트</a:t>
            </a:r>
            <a:r>
              <a:rPr lang="ko-KR" altLang="en-US" sz="2200" b="1" dirty="0">
                <a:solidFill>
                  <a:srgbClr val="0000FF"/>
                </a:solidFill>
              </a:rPr>
              <a:t> 수신모듈 배치 예시</a:t>
            </a:r>
            <a:r>
              <a:rPr lang="en-US" altLang="ko-KR" sz="2200" b="1" dirty="0">
                <a:solidFill>
                  <a:srgbClr val="0000FF"/>
                </a:solidFill>
              </a:rPr>
              <a:t>: </a:t>
            </a:r>
            <a:r>
              <a:rPr lang="ko-KR" altLang="en-US" sz="2200" b="1" dirty="0" err="1">
                <a:solidFill>
                  <a:srgbClr val="0000FF"/>
                </a:solidFill>
              </a:rPr>
              <a:t>미니브레드보드</a:t>
            </a:r>
            <a:r>
              <a:rPr lang="ko-KR" altLang="en-US" sz="2200" b="1" dirty="0">
                <a:solidFill>
                  <a:srgbClr val="0000FF"/>
                </a:solidFill>
              </a:rPr>
              <a:t> 경우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   </a:t>
            </a:r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 err="1">
                <a:latin typeface="+mn-ea"/>
              </a:rPr>
              <a:t>우노</a:t>
            </a:r>
            <a:r>
              <a:rPr lang="ko-KR" altLang="en-US" sz="1500" dirty="0">
                <a:latin typeface="+mn-ea"/>
              </a:rPr>
              <a:t> 센서 </a:t>
            </a:r>
            <a:r>
              <a:rPr lang="ko-KR" altLang="en-US" sz="1500" dirty="0" err="1">
                <a:latin typeface="+mn-ea"/>
              </a:rPr>
              <a:t>실드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GND </a:t>
            </a:r>
            <a:r>
              <a:rPr lang="ko-KR" altLang="en-US" sz="1500" dirty="0">
                <a:latin typeface="+mn-ea"/>
              </a:rPr>
              <a:t>와 </a:t>
            </a:r>
            <a:r>
              <a:rPr lang="en-US" altLang="ko-KR" sz="1500" dirty="0">
                <a:latin typeface="+mn-ea"/>
              </a:rPr>
              <a:t>5V</a:t>
            </a:r>
            <a:r>
              <a:rPr lang="ko-KR" altLang="en-US" sz="1500" dirty="0">
                <a:latin typeface="+mn-ea"/>
              </a:rPr>
              <a:t>를 </a:t>
            </a:r>
            <a:r>
              <a:rPr lang="ko-KR" altLang="en-US" sz="1500" dirty="0" err="1">
                <a:latin typeface="+mn-ea"/>
              </a:rPr>
              <a:t>미니브레드보드에</a:t>
            </a:r>
            <a:r>
              <a:rPr lang="ko-KR" altLang="en-US" sz="1500" dirty="0">
                <a:latin typeface="+mn-ea"/>
              </a:rPr>
              <a:t> 연결</a:t>
            </a:r>
            <a:endParaRPr lang="en-US" altLang="ko-KR" sz="15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500" dirty="0">
                <a:latin typeface="+mn-ea"/>
              </a:rPr>
              <a:t>    - </a:t>
            </a:r>
            <a:r>
              <a:rPr lang="ko-KR" altLang="en-US" sz="1500" dirty="0" err="1">
                <a:latin typeface="+mn-ea"/>
              </a:rPr>
              <a:t>미니브레드보드의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GND</a:t>
            </a:r>
            <a:r>
              <a:rPr lang="ko-KR" altLang="en-US" sz="1500" dirty="0">
                <a:latin typeface="+mn-ea"/>
              </a:rPr>
              <a:t>와 </a:t>
            </a:r>
            <a:r>
              <a:rPr lang="en-US" altLang="ko-KR" sz="1500" dirty="0">
                <a:latin typeface="+mn-ea"/>
              </a:rPr>
              <a:t>5V </a:t>
            </a:r>
            <a:r>
              <a:rPr lang="ko-KR" altLang="en-US" sz="1500" dirty="0">
                <a:latin typeface="+mn-ea"/>
              </a:rPr>
              <a:t>와 </a:t>
            </a:r>
            <a:r>
              <a:rPr lang="en-US" altLang="ko-KR" sz="1500" dirty="0">
                <a:latin typeface="+mn-ea"/>
              </a:rPr>
              <a:t>IR</a:t>
            </a:r>
            <a:r>
              <a:rPr lang="ko-KR" altLang="en-US" sz="1500" dirty="0" err="1">
                <a:latin typeface="+mn-ea"/>
              </a:rPr>
              <a:t>리모트</a:t>
            </a:r>
            <a:r>
              <a:rPr lang="ko-KR" altLang="en-US" sz="1500" dirty="0">
                <a:latin typeface="+mn-ea"/>
              </a:rPr>
              <a:t> 리시버 모듈의 </a:t>
            </a:r>
            <a:r>
              <a:rPr lang="en-US" altLang="ko-KR" sz="1500" dirty="0">
                <a:latin typeface="+mn-ea"/>
              </a:rPr>
              <a:t>GND, 5V </a:t>
            </a:r>
            <a:r>
              <a:rPr lang="ko-KR" altLang="en-US" sz="1500" dirty="0">
                <a:latin typeface="+mn-ea"/>
              </a:rPr>
              <a:t>연결</a:t>
            </a:r>
            <a:endParaRPr lang="en-US" altLang="ko-KR" sz="15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500" dirty="0">
                <a:latin typeface="+mn-ea"/>
              </a:rPr>
              <a:t>    - IR </a:t>
            </a:r>
            <a:r>
              <a:rPr lang="ko-KR" altLang="en-US" sz="1500" dirty="0" err="1">
                <a:latin typeface="+mn-ea"/>
              </a:rPr>
              <a:t>리모트</a:t>
            </a:r>
            <a:r>
              <a:rPr lang="en-US" altLang="ko-KR" sz="1500" dirty="0">
                <a:latin typeface="+mn-ea"/>
              </a:rPr>
              <a:t> </a:t>
            </a:r>
            <a:r>
              <a:rPr lang="ko-KR" altLang="en-US" sz="1500" dirty="0">
                <a:latin typeface="+mn-ea"/>
              </a:rPr>
              <a:t>리시버 모듈의 시그널 포트와 센서 </a:t>
            </a:r>
            <a:r>
              <a:rPr lang="ko-KR" altLang="en-US" sz="1500" dirty="0" err="1">
                <a:latin typeface="+mn-ea"/>
              </a:rPr>
              <a:t>실드의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A3 </a:t>
            </a:r>
            <a:r>
              <a:rPr lang="ko-KR" altLang="en-US" sz="1500" dirty="0">
                <a:latin typeface="+mn-ea"/>
              </a:rPr>
              <a:t>연결</a:t>
            </a:r>
            <a:endParaRPr lang="en-US" altLang="ko-KR" sz="15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500" dirty="0">
                <a:latin typeface="+mn-ea"/>
              </a:rPr>
              <a:t>    - </a:t>
            </a:r>
            <a:r>
              <a:rPr lang="ko-KR" altLang="en-US" sz="1500" dirty="0" err="1">
                <a:latin typeface="+mn-ea"/>
              </a:rPr>
              <a:t>미니브레드보드의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GND</a:t>
            </a:r>
            <a:r>
              <a:rPr lang="ko-KR" altLang="en-US" sz="1500" dirty="0">
                <a:latin typeface="+mn-ea"/>
              </a:rPr>
              <a:t>와 </a:t>
            </a:r>
            <a:r>
              <a:rPr lang="en-US" altLang="ko-KR" sz="1500" dirty="0">
                <a:latin typeface="+mn-ea"/>
              </a:rPr>
              <a:t>5V</a:t>
            </a:r>
            <a:r>
              <a:rPr lang="ko-KR" altLang="en-US" sz="1500" dirty="0">
                <a:latin typeface="+mn-ea"/>
              </a:rPr>
              <a:t>와 </a:t>
            </a:r>
            <a:r>
              <a:rPr lang="en-US" altLang="ko-KR" sz="1500" dirty="0">
                <a:latin typeface="+mn-ea"/>
              </a:rPr>
              <a:t>L298N</a:t>
            </a:r>
            <a:r>
              <a:rPr lang="ko-KR" altLang="en-US" sz="1500" dirty="0">
                <a:latin typeface="+mn-ea"/>
              </a:rPr>
              <a:t>의 </a:t>
            </a:r>
            <a:r>
              <a:rPr lang="en-US" altLang="ko-KR" sz="1500" dirty="0">
                <a:latin typeface="+mn-ea"/>
              </a:rPr>
              <a:t>GND</a:t>
            </a:r>
            <a:r>
              <a:rPr lang="ko-KR" altLang="en-US" sz="1500" dirty="0">
                <a:latin typeface="+mn-ea"/>
              </a:rPr>
              <a:t>와 </a:t>
            </a:r>
            <a:r>
              <a:rPr lang="en-US" altLang="ko-KR" sz="1500" dirty="0">
                <a:latin typeface="+mn-ea"/>
              </a:rPr>
              <a:t>5V </a:t>
            </a:r>
            <a:r>
              <a:rPr lang="ko-KR" altLang="en-US" sz="1500" dirty="0">
                <a:latin typeface="+mn-ea"/>
              </a:rPr>
              <a:t>연결</a:t>
            </a:r>
            <a:endParaRPr lang="en-US" altLang="ko-KR" sz="1500" dirty="0"/>
          </a:p>
        </p:txBody>
      </p:sp>
      <p:sp>
        <p:nvSpPr>
          <p:cNvPr id="5837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2078DE9A-3333-424F-9FCA-35F5FCACEFB8}" type="slidenum">
              <a:rPr lang="en-US" altLang="ko-KR" sz="1700" b="1">
                <a:solidFill>
                  <a:srgbClr val="1F497D"/>
                </a:solidFill>
              </a:rPr>
              <a:pPr/>
              <a:t>12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58375" name="직사각형 8"/>
          <p:cNvSpPr>
            <a:spLocks noChangeArrowheads="1"/>
          </p:cNvSpPr>
          <p:nvPr/>
        </p:nvSpPr>
        <p:spPr bwMode="auto">
          <a:xfrm>
            <a:off x="624028" y="551711"/>
            <a:ext cx="6982879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pic>
        <p:nvPicPr>
          <p:cNvPr id="5837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124" y="3094877"/>
            <a:ext cx="3892388" cy="290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236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29"/>
            <a:ext cx="8147927" cy="1404348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 err="1">
                <a:solidFill>
                  <a:srgbClr val="0000FF"/>
                </a:solidFill>
              </a:rPr>
              <a:t>리모트</a:t>
            </a:r>
            <a:r>
              <a:rPr lang="ko-KR" altLang="en-US" sz="2200" b="1" dirty="0">
                <a:solidFill>
                  <a:srgbClr val="0000FF"/>
                </a:solidFill>
              </a:rPr>
              <a:t> 수신모듈 배치 예시</a:t>
            </a:r>
            <a:r>
              <a:rPr lang="en-US" altLang="ko-KR" sz="2200" b="1" dirty="0">
                <a:solidFill>
                  <a:srgbClr val="0000FF"/>
                </a:solidFill>
              </a:rPr>
              <a:t>: </a:t>
            </a:r>
            <a:r>
              <a:rPr lang="ko-KR" altLang="en-US" sz="2200" b="1" dirty="0" err="1">
                <a:solidFill>
                  <a:srgbClr val="0000FF"/>
                </a:solidFill>
              </a:rPr>
              <a:t>미니브레드보드</a:t>
            </a:r>
            <a:r>
              <a:rPr lang="ko-KR" altLang="en-US" sz="2200" b="1" dirty="0">
                <a:solidFill>
                  <a:srgbClr val="0000FF"/>
                </a:solidFill>
              </a:rPr>
              <a:t> 경우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>
                <a:latin typeface="+mn-ea"/>
              </a:rPr>
              <a:t>    </a:t>
            </a:r>
            <a:r>
              <a:rPr lang="en-US" altLang="ko-KR" sz="1700" dirty="0">
                <a:latin typeface="+mn-ea"/>
              </a:rPr>
              <a:t>- </a:t>
            </a:r>
            <a:r>
              <a:rPr lang="ko-KR" altLang="en-US" sz="1700" dirty="0" err="1">
                <a:latin typeface="+mn-ea"/>
              </a:rPr>
              <a:t>뒤퐁</a:t>
            </a:r>
            <a:r>
              <a:rPr lang="ko-KR" altLang="en-US" sz="1700" dirty="0">
                <a:latin typeface="+mn-ea"/>
              </a:rPr>
              <a:t> </a:t>
            </a:r>
            <a:r>
              <a:rPr lang="en-US" altLang="ko-KR" sz="1700" dirty="0">
                <a:latin typeface="+mn-ea"/>
              </a:rPr>
              <a:t>female to female 3 </a:t>
            </a:r>
            <a:r>
              <a:rPr lang="ko-KR" altLang="en-US" sz="1700" dirty="0">
                <a:latin typeface="+mn-ea"/>
              </a:rPr>
              <a:t>가닥 분리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700" dirty="0">
                <a:latin typeface="+mn-ea"/>
              </a:rPr>
              <a:t>     - </a:t>
            </a:r>
            <a:r>
              <a:rPr lang="ko-KR" altLang="en-US" sz="1700" dirty="0">
                <a:latin typeface="+mn-ea"/>
              </a:rPr>
              <a:t>센서 </a:t>
            </a:r>
            <a:r>
              <a:rPr lang="ko-KR" altLang="en-US" sz="1700" dirty="0" err="1">
                <a:latin typeface="+mn-ea"/>
              </a:rPr>
              <a:t>실드</a:t>
            </a:r>
            <a:r>
              <a:rPr lang="ko-KR" altLang="en-US" sz="1700" dirty="0">
                <a:latin typeface="+mn-ea"/>
              </a:rPr>
              <a:t> </a:t>
            </a:r>
            <a:r>
              <a:rPr lang="en-US" altLang="ko-KR" sz="1700" dirty="0">
                <a:latin typeface="+mn-ea"/>
              </a:rPr>
              <a:t>V4</a:t>
            </a:r>
            <a:r>
              <a:rPr lang="ko-KR" altLang="en-US" sz="1700" dirty="0">
                <a:latin typeface="+mn-ea"/>
              </a:rPr>
              <a:t>의 왼쪽 센서 전용 포트와 연결</a:t>
            </a:r>
            <a:endParaRPr lang="en-US" altLang="ko-KR" sz="1700" dirty="0">
              <a:latin typeface="+mn-ea"/>
            </a:endParaRPr>
          </a:p>
        </p:txBody>
      </p:sp>
      <p:sp>
        <p:nvSpPr>
          <p:cNvPr id="5939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B9D1122-0939-4500-867C-EE1B3DF262B8}" type="slidenum">
              <a:rPr lang="en-US" altLang="ko-KR" sz="1700" b="1">
                <a:solidFill>
                  <a:srgbClr val="1F497D"/>
                </a:solidFill>
              </a:rPr>
              <a:pPr/>
              <a:t>13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59399" name="직사각형 8"/>
          <p:cNvSpPr>
            <a:spLocks noChangeArrowheads="1"/>
          </p:cNvSpPr>
          <p:nvPr/>
        </p:nvSpPr>
        <p:spPr bwMode="auto">
          <a:xfrm>
            <a:off x="624028" y="551711"/>
            <a:ext cx="6982879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적외선 리모콘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IR Remote Controller</a:t>
            </a:r>
          </a:p>
        </p:txBody>
      </p:sp>
      <p:pic>
        <p:nvPicPr>
          <p:cNvPr id="594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074" y="2373529"/>
            <a:ext cx="4685391" cy="392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118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98036" y="1156525"/>
            <a:ext cx="8147928" cy="521910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실습 내용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 </a:t>
            </a:r>
            <a:r>
              <a:rPr lang="ko-KR" altLang="en-US" sz="2200" dirty="0"/>
              <a:t>라인 트레이서를 이용한 라인 추적 운행 실습</a:t>
            </a:r>
            <a:endParaRPr lang="en-US" altLang="ko-KR" sz="2200" dirty="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실습 부품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 </a:t>
            </a:r>
            <a:r>
              <a:rPr lang="ko-KR" altLang="en-US" sz="2200" dirty="0"/>
              <a:t>라인 </a:t>
            </a:r>
            <a:r>
              <a:rPr lang="ko-KR" altLang="en-US" sz="2200" dirty="0" err="1"/>
              <a:t>추척</a:t>
            </a:r>
            <a:r>
              <a:rPr lang="ko-KR" altLang="en-US" sz="2200" dirty="0"/>
              <a:t> 모듈 </a:t>
            </a:r>
            <a:r>
              <a:rPr lang="en-US" altLang="ko-KR" sz="2200" dirty="0"/>
              <a:t>3</a:t>
            </a:r>
            <a:r>
              <a:rPr lang="ko-KR" altLang="en-US" sz="2200" dirty="0"/>
              <a:t>개</a:t>
            </a:r>
            <a:endParaRPr lang="en-US" altLang="ko-KR" sz="2200" dirty="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관련 설명</a:t>
            </a:r>
            <a:r>
              <a:rPr lang="en-US" altLang="ko-KR" sz="2200" dirty="0"/>
              <a:t> 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 - </a:t>
            </a:r>
            <a:r>
              <a:rPr lang="ko-KR" altLang="en-US" sz="2200" dirty="0"/>
              <a:t>프로그램 방식에</a:t>
            </a:r>
            <a:endParaRPr lang="en-US" altLang="ko-KR" sz="2200" dirty="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   </a:t>
            </a:r>
            <a:r>
              <a:rPr lang="ko-KR" altLang="en-US" sz="2200" dirty="0"/>
              <a:t>따라 </a:t>
            </a:r>
            <a:r>
              <a:rPr lang="en-US" altLang="ko-KR" sz="2200" dirty="0"/>
              <a:t>2</a:t>
            </a:r>
            <a:r>
              <a:rPr lang="ko-KR" altLang="en-US" sz="2200" dirty="0"/>
              <a:t>개 또는 </a:t>
            </a:r>
            <a:r>
              <a:rPr lang="en-US" altLang="ko-KR" sz="2200" dirty="0"/>
              <a:t>3</a:t>
            </a:r>
            <a:r>
              <a:rPr lang="ko-KR" altLang="en-US" sz="2200" dirty="0"/>
              <a:t>개</a:t>
            </a:r>
            <a:endParaRPr lang="en-US" altLang="ko-KR" sz="2200" dirty="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   </a:t>
            </a:r>
            <a:r>
              <a:rPr lang="ko-KR" altLang="en-US" sz="2200" dirty="0"/>
              <a:t>사용</a:t>
            </a:r>
            <a:r>
              <a:rPr lang="en-US" altLang="ko-KR" sz="2200" dirty="0"/>
              <a:t>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</a:t>
            </a:r>
          </a:p>
        </p:txBody>
      </p:sp>
      <p:sp>
        <p:nvSpPr>
          <p:cNvPr id="7373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FC7F78D6-7E29-417D-A48B-2A046DC216CA}" type="slidenum">
              <a:rPr lang="en-US" altLang="ko-KR" sz="1700" b="1">
                <a:solidFill>
                  <a:srgbClr val="1F497D"/>
                </a:solidFill>
              </a:rPr>
              <a:pPr/>
              <a:t>14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20810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62054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73735" name="직사각형 8"/>
          <p:cNvSpPr>
            <a:spLocks noChangeArrowheads="1"/>
          </p:cNvSpPr>
          <p:nvPr/>
        </p:nvSpPr>
        <p:spPr bwMode="auto">
          <a:xfrm>
            <a:off x="201586" y="485329"/>
            <a:ext cx="8740828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라인 </a:t>
            </a: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적</a:t>
            </a: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 Tracer Module</a:t>
            </a:r>
          </a:p>
        </p:txBody>
      </p:sp>
      <p:pic>
        <p:nvPicPr>
          <p:cNvPr id="7373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344" y="2625780"/>
            <a:ext cx="1563773" cy="3484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094" y="2625780"/>
            <a:ext cx="1562291" cy="3484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166" y="2625780"/>
            <a:ext cx="1562291" cy="3484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233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0"/>
            <a:ext cx="8147928" cy="521615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관련 설명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/>
              <a:t>  RFID </a:t>
            </a:r>
            <a:r>
              <a:rPr lang="ko-KR" altLang="en-US" sz="2200" b="1" dirty="0" err="1"/>
              <a:t>센싱</a:t>
            </a:r>
            <a:r>
              <a:rPr lang="ko-KR" altLang="en-US" sz="2200" b="1" dirty="0"/>
              <a:t> 거리</a:t>
            </a:r>
            <a:endParaRPr lang="en-US" altLang="ko-KR" sz="2200" b="1" dirty="0"/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/>
              <a:t>  </a:t>
            </a:r>
            <a:r>
              <a:rPr lang="en-US" altLang="ko-KR" sz="1700" dirty="0">
                <a:latin typeface="+mn-ea"/>
              </a:rPr>
              <a:t>- </a:t>
            </a:r>
            <a:r>
              <a:rPr lang="ko-KR" altLang="en-US" sz="1700" dirty="0">
                <a:latin typeface="+mn-ea"/>
              </a:rPr>
              <a:t>모듈의 인식 거리</a:t>
            </a:r>
            <a:r>
              <a:rPr lang="en-US" altLang="ko-KR" sz="1700" dirty="0">
                <a:latin typeface="+mn-ea"/>
              </a:rPr>
              <a:t>: 1 </a:t>
            </a:r>
            <a:r>
              <a:rPr lang="ko-KR" altLang="en-US" sz="1700" dirty="0">
                <a:latin typeface="+mn-ea"/>
              </a:rPr>
              <a:t>센티 내외</a:t>
            </a:r>
            <a:r>
              <a:rPr lang="en-US" altLang="ko-KR" sz="1700" dirty="0">
                <a:latin typeface="+mn-ea"/>
              </a:rPr>
              <a:t>, </a:t>
            </a:r>
            <a:r>
              <a:rPr lang="ko-KR" altLang="en-US" sz="1700" dirty="0">
                <a:latin typeface="+mn-ea"/>
              </a:rPr>
              <a:t>최대 </a:t>
            </a:r>
            <a:r>
              <a:rPr lang="en-US" altLang="ko-KR" sz="1700" dirty="0">
                <a:latin typeface="+mn-ea"/>
              </a:rPr>
              <a:t>1.5 </a:t>
            </a:r>
            <a:r>
              <a:rPr lang="ko-KR" altLang="en-US" sz="1700" dirty="0">
                <a:latin typeface="+mn-ea"/>
              </a:rPr>
              <a:t>센티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 err="1">
                <a:latin typeface="+mn-ea"/>
              </a:rPr>
              <a:t>바다으로부터의</a:t>
            </a:r>
            <a:r>
              <a:rPr lang="ko-KR" altLang="en-US" sz="1700" dirty="0">
                <a:latin typeface="+mn-ea"/>
              </a:rPr>
              <a:t> 센서 장착 높이는 </a:t>
            </a:r>
            <a:r>
              <a:rPr lang="en-US" altLang="ko-KR" sz="1700" dirty="0">
                <a:latin typeface="+mn-ea"/>
              </a:rPr>
              <a:t>1 </a:t>
            </a:r>
            <a:r>
              <a:rPr lang="ko-KR" altLang="en-US" sz="1700" dirty="0">
                <a:latin typeface="+mn-ea"/>
              </a:rPr>
              <a:t>센티 내외 가 적당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>
                <a:latin typeface="+mn-ea"/>
              </a:rPr>
              <a:t>모듈의 가변 저항을 아래 그림처럼 약간 돌려주어 거리 조절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>
                <a:latin typeface="+mn-ea"/>
              </a:rPr>
              <a:t>정확한 </a:t>
            </a:r>
            <a:r>
              <a:rPr lang="ko-KR" altLang="en-US" sz="1700" dirty="0" err="1">
                <a:latin typeface="+mn-ea"/>
              </a:rPr>
              <a:t>센싱</a:t>
            </a:r>
            <a:r>
              <a:rPr lang="ko-KR" altLang="en-US" sz="1700" dirty="0">
                <a:latin typeface="+mn-ea"/>
              </a:rPr>
              <a:t> 거리는 </a:t>
            </a:r>
            <a:r>
              <a:rPr lang="en-US" altLang="ko-KR" sz="1700" dirty="0">
                <a:latin typeface="+mn-ea"/>
              </a:rPr>
              <a:t>12mm </a:t>
            </a:r>
            <a:r>
              <a:rPr lang="ko-KR" altLang="en-US" sz="1700" dirty="0">
                <a:latin typeface="+mn-ea"/>
              </a:rPr>
              <a:t>지만 가변저항을 돌려서 조절하는 경우 좀더 짧게 또는 길게 조정 가능</a:t>
            </a:r>
          </a:p>
        </p:txBody>
      </p:sp>
      <p:sp>
        <p:nvSpPr>
          <p:cNvPr id="7475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46BCE21-C338-4F28-B902-602DEE01E884}" type="slidenum">
              <a:rPr lang="en-US" altLang="ko-KR" sz="1700" b="1">
                <a:solidFill>
                  <a:srgbClr val="1F497D"/>
                </a:solidFill>
              </a:rPr>
              <a:pPr/>
              <a:t>15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74759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라인 </a:t>
            </a: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추적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 Tracer Module</a:t>
            </a:r>
          </a:p>
        </p:txBody>
      </p:sp>
      <p:pic>
        <p:nvPicPr>
          <p:cNvPr id="7476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075" y="3295498"/>
            <a:ext cx="4363744" cy="2911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818" y="3763126"/>
            <a:ext cx="2469428" cy="1842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104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0"/>
            <a:ext cx="8147928" cy="5033232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관련 설명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/>
              <a:t>  </a:t>
            </a:r>
            <a:r>
              <a:rPr lang="ko-KR" altLang="en-US" sz="2200" b="1" dirty="0"/>
              <a:t>라인추적 운행 기초 원리</a:t>
            </a:r>
            <a:endParaRPr lang="en-US" altLang="ko-KR" sz="2200" b="1" dirty="0"/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500" dirty="0">
                <a:latin typeface="+mn-ea"/>
              </a:rPr>
              <a:t>  - 3</a:t>
            </a:r>
            <a:r>
              <a:rPr lang="ko-KR" altLang="en-US" sz="1500" dirty="0">
                <a:latin typeface="+mn-ea"/>
              </a:rPr>
              <a:t>개의 모듈로부터</a:t>
            </a:r>
            <a:r>
              <a:rPr lang="en-US" altLang="ko-KR" sz="1500" dirty="0">
                <a:latin typeface="+mn-ea"/>
              </a:rPr>
              <a:t> </a:t>
            </a:r>
            <a:r>
              <a:rPr lang="ko-KR" altLang="en-US" sz="1500" dirty="0">
                <a:latin typeface="+mn-ea"/>
              </a:rPr>
              <a:t>값을 가져 옴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값은 모듈에 따라 아날로그 또는 디지털 값</a:t>
            </a:r>
            <a:r>
              <a:rPr lang="en-US" altLang="ko-KR" sz="1500" dirty="0">
                <a:latin typeface="+mn-ea"/>
              </a:rPr>
              <a:t>(0 or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1) </a:t>
            </a:r>
            <a:r>
              <a:rPr lang="ko-KR" altLang="en-US" sz="1500" dirty="0">
                <a:latin typeface="+mn-ea"/>
              </a:rPr>
              <a:t>임</a:t>
            </a:r>
            <a:endParaRPr lang="en-US" altLang="ko-KR" sz="15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500" dirty="0">
                <a:latin typeface="+mn-ea"/>
              </a:rPr>
              <a:t>  - </a:t>
            </a:r>
            <a:r>
              <a:rPr lang="ko-KR" altLang="en-US" sz="1500" dirty="0">
                <a:latin typeface="+mn-ea"/>
              </a:rPr>
              <a:t>본 예제에서 </a:t>
            </a:r>
            <a:r>
              <a:rPr lang="ko-KR" altLang="en-US" sz="1500" dirty="0" err="1">
                <a:latin typeface="+mn-ea"/>
              </a:rPr>
              <a:t>반환값은</a:t>
            </a:r>
            <a:r>
              <a:rPr lang="ko-KR" altLang="en-US" sz="1500" dirty="0">
                <a:latin typeface="+mn-ea"/>
              </a:rPr>
              <a:t> 디지털이며 흰색 바닥의 경우 </a:t>
            </a:r>
            <a:r>
              <a:rPr lang="en-US" altLang="ko-KR" sz="1500" dirty="0">
                <a:latin typeface="+mn-ea"/>
              </a:rPr>
              <a:t>0  </a:t>
            </a:r>
            <a:r>
              <a:rPr lang="ko-KR" altLang="en-US" sz="1500" dirty="0">
                <a:latin typeface="+mn-ea"/>
              </a:rPr>
              <a:t>검정색 트랙인 경우 </a:t>
            </a:r>
            <a:r>
              <a:rPr lang="en-US" altLang="ko-KR" sz="1500" dirty="0">
                <a:latin typeface="+mn-ea"/>
              </a:rPr>
              <a:t>1</a:t>
            </a:r>
            <a:r>
              <a:rPr lang="ko-KR" altLang="en-US" sz="1500" dirty="0">
                <a:latin typeface="+mn-ea"/>
              </a:rPr>
              <a:t>이 반환 됨</a:t>
            </a:r>
            <a:endParaRPr lang="en-US" altLang="ko-KR" sz="1500" dirty="0">
              <a:latin typeface="+mn-ea"/>
            </a:endParaRPr>
          </a:p>
          <a:p>
            <a:pPr marL="0" indent="0">
              <a:buNone/>
              <a:defRPr/>
            </a:pPr>
            <a:r>
              <a:rPr lang="en-US" altLang="ko-KR" sz="1500" dirty="0">
                <a:latin typeface="+mn-ea"/>
              </a:rPr>
              <a:t>  - </a:t>
            </a:r>
            <a:r>
              <a:rPr lang="ko-KR" altLang="en-US" sz="1500" dirty="0"/>
              <a:t>왼쪽 모듈의 값에서 라인 추적 반응이 있으면 왼쪽으로 방향 조절</a:t>
            </a:r>
            <a:r>
              <a:rPr lang="en-US" altLang="ko-KR" sz="1500" dirty="0"/>
              <a:t>. </a:t>
            </a:r>
          </a:p>
          <a:p>
            <a:pPr marL="0" indent="0">
              <a:buNone/>
              <a:defRPr/>
            </a:pPr>
            <a:r>
              <a:rPr lang="ko-KR" altLang="en-US" sz="1500" dirty="0"/>
              <a:t>     좌측으로 방향 조절은 라인 추적 모듈의 값이 </a:t>
            </a:r>
            <a:r>
              <a:rPr lang="en-US" altLang="ko-KR" sz="1500" dirty="0"/>
              <a:t>0</a:t>
            </a:r>
            <a:r>
              <a:rPr lang="ko-KR" altLang="en-US" sz="1500" dirty="0"/>
              <a:t>일 때까지 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>
                <a:latin typeface="+mn-ea"/>
              </a:rPr>
              <a:t>  - </a:t>
            </a:r>
            <a:r>
              <a:rPr lang="ko-KR" altLang="en-US" sz="1500" dirty="0"/>
              <a:t>동일하게 오른쪽 모듈의 값에서 라인 추적 반응이 있으면 오른쪽으로 방향 조절</a:t>
            </a:r>
            <a:r>
              <a:rPr lang="en-US" altLang="ko-KR" sz="1500" dirty="0"/>
              <a:t>. </a:t>
            </a:r>
            <a:r>
              <a:rPr lang="ko-KR" altLang="en-US" sz="1500" dirty="0"/>
              <a:t>역시 오른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en-US" altLang="ko-KR" sz="1500" dirty="0"/>
              <a:t>    </a:t>
            </a:r>
            <a:r>
              <a:rPr lang="ko-KR" altLang="en-US" sz="1500" dirty="0"/>
              <a:t>쪽 라인 추적 모듈의 값이 </a:t>
            </a:r>
            <a:r>
              <a:rPr lang="en-US" altLang="ko-KR" sz="1500" dirty="0"/>
              <a:t>0</a:t>
            </a:r>
            <a:r>
              <a:rPr lang="ko-KR" altLang="en-US" sz="1500" dirty="0"/>
              <a:t>으로 될 때까지 회전</a:t>
            </a:r>
            <a:r>
              <a:rPr lang="en-US" altLang="ko-KR" sz="1500" dirty="0"/>
              <a:t> </a:t>
            </a:r>
            <a:endParaRPr lang="ko-KR" altLang="en-US" sz="1500" dirty="0">
              <a:latin typeface="+mn-ea"/>
            </a:endParaRPr>
          </a:p>
        </p:txBody>
      </p:sp>
      <p:sp>
        <p:nvSpPr>
          <p:cNvPr id="7577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6E6592D3-B522-499F-B0FC-3655F0055043}" type="slidenum">
              <a:rPr lang="en-US" altLang="ko-KR" sz="1700" b="1">
                <a:solidFill>
                  <a:srgbClr val="1F497D"/>
                </a:solidFill>
              </a:rPr>
              <a:pPr/>
              <a:t>16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75783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라인 </a:t>
            </a: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추적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 Tracer Module</a:t>
            </a:r>
          </a:p>
        </p:txBody>
      </p:sp>
      <p:pic>
        <p:nvPicPr>
          <p:cNvPr id="7578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630" y="3696741"/>
            <a:ext cx="3764915" cy="2423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43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29"/>
            <a:ext cx="8147927" cy="2006212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 err="1">
                <a:solidFill>
                  <a:srgbClr val="0000FF"/>
                </a:solidFill>
              </a:rPr>
              <a:t>아두이노와</a:t>
            </a:r>
            <a:r>
              <a:rPr lang="ko-KR" altLang="en-US" sz="2200" b="1" dirty="0">
                <a:solidFill>
                  <a:srgbClr val="0000FF"/>
                </a:solidFill>
              </a:rPr>
              <a:t> 연결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>
                <a:latin typeface="+mn-ea"/>
              </a:rPr>
              <a:t>    </a:t>
            </a:r>
            <a:r>
              <a:rPr lang="en-US" altLang="ko-KR" sz="1900" dirty="0">
                <a:latin typeface="+mn-ea"/>
              </a:rPr>
              <a:t>- </a:t>
            </a:r>
            <a:r>
              <a:rPr lang="ko-KR" altLang="en-US" sz="1900" dirty="0">
                <a:latin typeface="+mn-ea"/>
              </a:rPr>
              <a:t>기존 포트는 거의 사용 중이므로 아날로그 포트를 사용</a:t>
            </a:r>
            <a:r>
              <a:rPr lang="en-US" altLang="ko-KR" sz="1900" dirty="0">
                <a:latin typeface="+mn-ea"/>
              </a:rPr>
              <a:t>(A0, A1, A2)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900" dirty="0">
                <a:latin typeface="+mn-ea"/>
              </a:rPr>
              <a:t>     - </a:t>
            </a:r>
            <a:r>
              <a:rPr lang="ko-KR" altLang="en-US" sz="1900" dirty="0">
                <a:latin typeface="+mn-ea"/>
              </a:rPr>
              <a:t>왼쪽</a:t>
            </a:r>
            <a:r>
              <a:rPr lang="en-US" altLang="ko-KR" sz="1900" dirty="0">
                <a:latin typeface="+mn-ea"/>
              </a:rPr>
              <a:t>, </a:t>
            </a:r>
            <a:r>
              <a:rPr lang="ko-KR" altLang="en-US" sz="1900" dirty="0">
                <a:latin typeface="+mn-ea"/>
              </a:rPr>
              <a:t>중앙</a:t>
            </a:r>
            <a:r>
              <a:rPr lang="en-US" altLang="ko-KR" sz="1900" dirty="0">
                <a:latin typeface="+mn-ea"/>
              </a:rPr>
              <a:t>, </a:t>
            </a:r>
            <a:r>
              <a:rPr lang="ko-KR" altLang="en-US" sz="1900" dirty="0">
                <a:latin typeface="+mn-ea"/>
              </a:rPr>
              <a:t>오른쪽 모듈 공히 </a:t>
            </a:r>
            <a:r>
              <a:rPr lang="en-US" altLang="ko-KR" sz="1900" dirty="0">
                <a:latin typeface="+mn-ea"/>
              </a:rPr>
              <a:t>VCC </a:t>
            </a:r>
            <a:r>
              <a:rPr lang="ko-KR" altLang="en-US" sz="1900" dirty="0">
                <a:latin typeface="+mn-ea"/>
              </a:rPr>
              <a:t>는 </a:t>
            </a:r>
            <a:r>
              <a:rPr lang="ko-KR" altLang="en-US" sz="1900" dirty="0" err="1">
                <a:latin typeface="+mn-ea"/>
              </a:rPr>
              <a:t>아두이노</a:t>
            </a:r>
            <a:r>
              <a:rPr lang="ko-KR" altLang="en-US" sz="1900" dirty="0">
                <a:latin typeface="+mn-ea"/>
              </a:rPr>
              <a:t> </a:t>
            </a:r>
            <a:r>
              <a:rPr lang="en-US" altLang="ko-KR" sz="1900" dirty="0">
                <a:latin typeface="+mn-ea"/>
              </a:rPr>
              <a:t>5V, GND</a:t>
            </a:r>
            <a:r>
              <a:rPr lang="ko-KR" altLang="en-US" sz="1900" dirty="0">
                <a:latin typeface="+mn-ea"/>
              </a:rPr>
              <a:t>는 </a:t>
            </a:r>
            <a:r>
              <a:rPr lang="ko-KR" altLang="en-US" sz="1900" dirty="0" err="1">
                <a:latin typeface="+mn-ea"/>
              </a:rPr>
              <a:t>아두이노</a:t>
            </a:r>
            <a:endParaRPr lang="en-US" altLang="ko-KR" sz="19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900" dirty="0">
                <a:latin typeface="+mn-ea"/>
              </a:rPr>
              <a:t>      </a:t>
            </a:r>
            <a:r>
              <a:rPr lang="ko-KR" altLang="en-US" sz="1900" dirty="0">
                <a:latin typeface="+mn-ea"/>
              </a:rPr>
              <a:t> </a:t>
            </a:r>
            <a:r>
              <a:rPr lang="en-US" altLang="ko-KR" sz="1900" dirty="0">
                <a:latin typeface="+mn-ea"/>
              </a:rPr>
              <a:t>GND</a:t>
            </a:r>
            <a:r>
              <a:rPr lang="ko-KR" altLang="en-US" sz="1900" dirty="0">
                <a:latin typeface="+mn-ea"/>
              </a:rPr>
              <a:t>에 연결</a:t>
            </a:r>
            <a:endParaRPr lang="en-US" altLang="ko-KR" sz="19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900" dirty="0">
                <a:latin typeface="+mn-ea"/>
              </a:rPr>
              <a:t>     - OUT</a:t>
            </a:r>
            <a:r>
              <a:rPr lang="ko-KR" altLang="en-US" sz="1900" dirty="0">
                <a:latin typeface="+mn-ea"/>
              </a:rPr>
              <a:t>은 다음 표와 같이 연결</a:t>
            </a:r>
            <a:endParaRPr lang="en-US" altLang="ko-KR" sz="1900" dirty="0">
              <a:latin typeface="+mn-ea"/>
            </a:endParaRPr>
          </a:p>
        </p:txBody>
      </p:sp>
      <p:sp>
        <p:nvSpPr>
          <p:cNvPr id="76803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CC87047-E17C-42AA-AEA7-D4CB99015A97}" type="slidenum">
              <a:rPr lang="en-US" altLang="ko-KR" sz="1700" b="1">
                <a:solidFill>
                  <a:srgbClr val="1F497D"/>
                </a:solidFill>
              </a:rPr>
              <a:pPr/>
              <a:t>17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76807" name="직사각형 8"/>
          <p:cNvSpPr>
            <a:spLocks noChangeArrowheads="1"/>
          </p:cNvSpPr>
          <p:nvPr/>
        </p:nvSpPr>
        <p:spPr bwMode="auto">
          <a:xfrm>
            <a:off x="336471" y="551711"/>
            <a:ext cx="8336173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라인 </a:t>
            </a: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추적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 Tracer Module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277700" y="3830980"/>
          <a:ext cx="6096494" cy="1377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247"/>
                <a:gridCol w="3048247"/>
              </a:tblGrid>
              <a:tr h="34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 smtClean="0"/>
                        <a:t>모듈 위치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 err="1" smtClean="0"/>
                        <a:t>아두이노</a:t>
                      </a:r>
                      <a:r>
                        <a:rPr lang="ko-KR" altLang="en-US" sz="1700" dirty="0" smtClean="0"/>
                        <a:t> 포트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  <a:tr h="3445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 smtClean="0"/>
                        <a:t>왼쪽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A0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  <a:tr h="3445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 smtClean="0"/>
                        <a:t>중앙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A1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  <a:tr h="3445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 smtClean="0"/>
                        <a:t>오른쪽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A2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36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29"/>
            <a:ext cx="8147927" cy="868867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 err="1">
                <a:solidFill>
                  <a:srgbClr val="0000FF"/>
                </a:solidFill>
              </a:rPr>
              <a:t>아두이노와</a:t>
            </a:r>
            <a:r>
              <a:rPr lang="ko-KR" altLang="en-US" sz="2200" b="1" dirty="0">
                <a:solidFill>
                  <a:srgbClr val="0000FF"/>
                </a:solidFill>
              </a:rPr>
              <a:t> 연결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>
                <a:latin typeface="+mn-ea"/>
              </a:rPr>
              <a:t>    </a:t>
            </a:r>
            <a:r>
              <a:rPr lang="en-US" altLang="ko-KR" sz="1900" dirty="0">
                <a:latin typeface="+mn-ea"/>
              </a:rPr>
              <a:t>- </a:t>
            </a:r>
            <a:r>
              <a:rPr lang="ko-KR" altLang="en-US" sz="1900" dirty="0" err="1">
                <a:latin typeface="+mn-ea"/>
              </a:rPr>
              <a:t>뒤퐁</a:t>
            </a:r>
            <a:r>
              <a:rPr lang="en-US" altLang="ko-KR" sz="1900" dirty="0">
                <a:latin typeface="+mn-ea"/>
              </a:rPr>
              <a:t> </a:t>
            </a:r>
            <a:r>
              <a:rPr lang="ko-KR" altLang="en-US" sz="1900" dirty="0">
                <a:latin typeface="+mn-ea"/>
              </a:rPr>
              <a:t>케이블 </a:t>
            </a:r>
            <a:r>
              <a:rPr lang="en-US" altLang="ko-KR" sz="1900" dirty="0">
                <a:latin typeface="+mn-ea"/>
              </a:rPr>
              <a:t>2.54pitch 3</a:t>
            </a:r>
            <a:r>
              <a:rPr lang="ko-KR" altLang="en-US" sz="1900" dirty="0">
                <a:latin typeface="+mn-ea"/>
              </a:rPr>
              <a:t>가닥씩 잘라 사용</a:t>
            </a:r>
            <a:endParaRPr lang="en-US" altLang="ko-KR" sz="1900" dirty="0">
              <a:latin typeface="+mn-ea"/>
            </a:endParaRPr>
          </a:p>
        </p:txBody>
      </p:sp>
      <p:sp>
        <p:nvSpPr>
          <p:cNvPr id="77827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9C4B0254-D911-444D-96CE-ACDCCE8003FA}" type="slidenum">
              <a:rPr lang="en-US" altLang="ko-KR" sz="1700" b="1">
                <a:solidFill>
                  <a:srgbClr val="1F497D"/>
                </a:solidFill>
              </a:rPr>
              <a:pPr/>
              <a:t>18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77831" name="직사각형 8"/>
          <p:cNvSpPr>
            <a:spLocks noChangeArrowheads="1"/>
          </p:cNvSpPr>
          <p:nvPr/>
        </p:nvSpPr>
        <p:spPr bwMode="auto">
          <a:xfrm>
            <a:off x="336471" y="551711"/>
            <a:ext cx="8336173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라인 </a:t>
            </a: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추적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 Tracer Module</a:t>
            </a:r>
          </a:p>
        </p:txBody>
      </p:sp>
      <p:pic>
        <p:nvPicPr>
          <p:cNvPr id="7783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998" y="2425159"/>
            <a:ext cx="5167123" cy="303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1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29"/>
            <a:ext cx="8147927" cy="868867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 err="1">
                <a:solidFill>
                  <a:srgbClr val="0000FF"/>
                </a:solidFill>
              </a:rPr>
              <a:t>아두이노와</a:t>
            </a:r>
            <a:r>
              <a:rPr lang="ko-KR" altLang="en-US" sz="2200" b="1" dirty="0">
                <a:solidFill>
                  <a:srgbClr val="0000FF"/>
                </a:solidFill>
              </a:rPr>
              <a:t> 연결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>
                <a:latin typeface="+mn-ea"/>
              </a:rPr>
              <a:t>   </a:t>
            </a:r>
            <a:endParaRPr lang="en-US" altLang="ko-KR" sz="1900" dirty="0">
              <a:latin typeface="+mn-ea"/>
            </a:endParaRPr>
          </a:p>
        </p:txBody>
      </p:sp>
      <p:sp>
        <p:nvSpPr>
          <p:cNvPr id="7885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E737A480-001A-4C6C-8B44-FDAF779D72E5}" type="slidenum">
              <a:rPr lang="en-US" altLang="ko-KR" sz="1700" b="1">
                <a:solidFill>
                  <a:srgbClr val="1F497D"/>
                </a:solidFill>
              </a:rPr>
              <a:pPr/>
              <a:t>19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78855" name="직사각형 8"/>
          <p:cNvSpPr>
            <a:spLocks noChangeArrowheads="1"/>
          </p:cNvSpPr>
          <p:nvPr/>
        </p:nvSpPr>
        <p:spPr bwMode="auto">
          <a:xfrm>
            <a:off x="336471" y="551711"/>
            <a:ext cx="8336173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라인 </a:t>
            </a: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추적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 Tracer Module</a:t>
            </a:r>
          </a:p>
        </p:txBody>
      </p:sp>
      <p:pic>
        <p:nvPicPr>
          <p:cNvPr id="7885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917" y="1225855"/>
            <a:ext cx="3388423" cy="487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380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57326" y="1171276"/>
            <a:ext cx="8147928" cy="652019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</a:t>
            </a:r>
            <a:r>
              <a:rPr lang="en-US" altLang="ko-KR" sz="2200" b="1">
                <a:solidFill>
                  <a:srgbClr val="0000FF"/>
                </a:solidFill>
              </a:rPr>
              <a:t>: </a:t>
            </a:r>
            <a:r>
              <a:rPr lang="ko-KR" altLang="en-US" sz="2200" b="1">
                <a:solidFill>
                  <a:srgbClr val="0000FF"/>
                </a:solidFill>
              </a:rPr>
              <a:t>모듈 </a:t>
            </a:r>
            <a:r>
              <a:rPr lang="en-US" altLang="ko-KR" sz="2200" b="1">
                <a:solidFill>
                  <a:srgbClr val="0000FF"/>
                </a:solidFill>
              </a:rPr>
              <a:t>1</a:t>
            </a:r>
            <a:r>
              <a:rPr lang="ko-KR" altLang="en-US" sz="2200" b="1">
                <a:solidFill>
                  <a:srgbClr val="0000FF"/>
                </a:solidFill>
              </a:rPr>
              <a:t>개 값 확인</a:t>
            </a:r>
            <a:r>
              <a:rPr lang="en-US" altLang="ko-KR" sz="2200" b="1">
                <a:solidFill>
                  <a:srgbClr val="0000FF"/>
                </a:solidFill>
              </a:rPr>
              <a:t>(4wd_ex_16-1)</a:t>
            </a:r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</p:txBody>
      </p:sp>
      <p:sp>
        <p:nvSpPr>
          <p:cNvPr id="7987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73B1D440-63B5-4BA4-9360-4DB7527BADFE}" type="slidenum">
              <a:rPr lang="en-US" altLang="ko-KR" sz="1700" b="1">
                <a:solidFill>
                  <a:srgbClr val="1F497D"/>
                </a:solidFill>
              </a:rPr>
              <a:pPr/>
              <a:t>20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79879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라인 </a:t>
            </a: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추적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모듈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 Tracer Module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92902" y="1622672"/>
            <a:ext cx="7537241" cy="16875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setup()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Serial.begin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(9600);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loop()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int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sensorValue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=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digitalRead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(A0); //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Serial.println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sensorValue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delay(100);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	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88456" y="3332377"/>
            <a:ext cx="5432445" cy="429270"/>
          </a:xfrm>
          <a:prstGeom prst="rect">
            <a:avLst/>
          </a:prstGeom>
        </p:spPr>
        <p:txBody>
          <a:bodyPr wrap="none" lIns="85178" tIns="42589" rIns="85178" bIns="42589">
            <a:spAutoFit/>
          </a:bodyPr>
          <a:lstStyle/>
          <a:p>
            <a:pPr defTabSz="85194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200" b="1" dirty="0">
                <a:solidFill>
                  <a:srgbClr val="0000FF"/>
                </a:solidFill>
              </a:rPr>
              <a:t>▶ </a:t>
            </a:r>
            <a:r>
              <a:rPr kumimoji="1" lang="ko-KR" altLang="en-US" sz="2200" b="1" dirty="0">
                <a:solidFill>
                  <a:srgbClr val="0000FF"/>
                </a:solidFill>
              </a:rPr>
              <a:t>코드</a:t>
            </a:r>
            <a:r>
              <a:rPr kumimoji="1" lang="en-US" altLang="ko-KR" sz="2200" b="1" dirty="0">
                <a:solidFill>
                  <a:srgbClr val="0000FF"/>
                </a:solidFill>
              </a:rPr>
              <a:t>: </a:t>
            </a:r>
            <a:r>
              <a:rPr kumimoji="1" lang="ko-KR" altLang="en-US" sz="2200" b="1" dirty="0">
                <a:solidFill>
                  <a:srgbClr val="0000FF"/>
                </a:solidFill>
              </a:rPr>
              <a:t>모듈 </a:t>
            </a:r>
            <a:r>
              <a:rPr kumimoji="1" lang="en-US" altLang="ko-KR" sz="2200" b="1" dirty="0" smtClean="0">
                <a:solidFill>
                  <a:srgbClr val="0000FF"/>
                </a:solidFill>
              </a:rPr>
              <a:t>3</a:t>
            </a:r>
            <a:r>
              <a:rPr kumimoji="1" lang="ko-KR" altLang="en-US" sz="2200" b="1" dirty="0" smtClean="0">
                <a:solidFill>
                  <a:srgbClr val="0000FF"/>
                </a:solidFill>
              </a:rPr>
              <a:t>개 </a:t>
            </a:r>
            <a:r>
              <a:rPr kumimoji="1" lang="ko-KR" altLang="en-US" sz="2200" b="1" dirty="0">
                <a:solidFill>
                  <a:srgbClr val="0000FF"/>
                </a:solidFill>
              </a:rPr>
              <a:t>값 확인</a:t>
            </a:r>
            <a:r>
              <a:rPr kumimoji="1" lang="en-US" altLang="ko-KR" sz="2200" b="1" dirty="0">
                <a:solidFill>
                  <a:srgbClr val="0000FF"/>
                </a:solidFill>
              </a:rPr>
              <a:t>(4wd_ex_16-2)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77391" y="3804429"/>
            <a:ext cx="7538723" cy="24885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setup()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Serial.begin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(9600);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loop()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int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sensorValue1 =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digitalRead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(A0);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int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sensorValue2 =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digitalRead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(A1);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int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sensorValue3 =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digitalRead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(A2);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char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szTemp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[64];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fi-FI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sprintf(szTemp,"%d %d %d",sensorValue1,sensorValue2,sensorValue3);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Serial.println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szTemp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delay(100); // delay in between reads for stability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	</a:t>
            </a:r>
          </a:p>
        </p:txBody>
      </p:sp>
    </p:spTree>
    <p:extLst>
      <p:ext uri="{BB962C8B-B14F-4D97-AF65-F5344CB8AC3E}">
        <p14:creationId xmlns:p14="http://schemas.microsoft.com/office/powerpoint/2010/main" val="72806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71356" y="1153575"/>
            <a:ext cx="8147928" cy="521910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실습 내용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</a:t>
            </a:r>
            <a:r>
              <a:rPr lang="ko-KR" altLang="en-US" sz="2200"/>
              <a:t>초음파센서를 이용한 거리측정 실습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실습 부품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</a:t>
            </a:r>
            <a:r>
              <a:rPr lang="ko-KR" altLang="en-US" sz="2200"/>
              <a:t>초음파 센서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관련 설명</a:t>
            </a:r>
            <a:r>
              <a:rPr lang="en-US" altLang="ko-KR" sz="2200"/>
              <a:t>  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- Trigger </a:t>
            </a:r>
            <a:r>
              <a:rPr lang="ko-KR" altLang="en-US" sz="2200"/>
              <a:t>포트</a:t>
            </a:r>
            <a:r>
              <a:rPr lang="en-US" altLang="ko-KR" sz="2200"/>
              <a:t>: </a:t>
            </a:r>
            <a:r>
              <a:rPr lang="ko-KR" altLang="en-US" sz="2200"/>
              <a:t>초음파 발사 신호 입력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- Echo </a:t>
            </a:r>
            <a:r>
              <a:rPr lang="ko-KR" altLang="en-US" sz="2200"/>
              <a:t>포트</a:t>
            </a:r>
            <a:r>
              <a:rPr lang="en-US" altLang="ko-KR" sz="2200"/>
              <a:t>: </a:t>
            </a:r>
            <a:r>
              <a:rPr lang="ko-KR" altLang="en-US" sz="2200"/>
              <a:t>반향된 음파 수신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- </a:t>
            </a:r>
            <a:r>
              <a:rPr lang="ko-KR" altLang="en-US" sz="2200"/>
              <a:t>활용 분야</a:t>
            </a:r>
            <a:r>
              <a:rPr lang="en-US" altLang="ko-KR" sz="2200"/>
              <a:t>: </a:t>
            </a:r>
            <a:r>
              <a:rPr lang="ko-KR" altLang="en-US" sz="2200"/>
              <a:t>근거리 측정</a:t>
            </a:r>
            <a:endParaRPr lang="en-US" altLang="ko-KR" sz="2200"/>
          </a:p>
        </p:txBody>
      </p:sp>
      <p:sp>
        <p:nvSpPr>
          <p:cNvPr id="6553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215042DC-ABBF-4277-8F22-CFC39AA83AF4}" type="slidenum">
              <a:rPr lang="en-US" altLang="ko-KR" sz="1700" b="1">
                <a:solidFill>
                  <a:srgbClr val="1F497D"/>
                </a:solidFill>
              </a:rPr>
              <a:pPr/>
              <a:t>21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20810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65542" name="Rectangle 7"/>
          <p:cNvSpPr>
            <a:spLocks noChangeArrowheads="1"/>
          </p:cNvSpPr>
          <p:nvPr/>
        </p:nvSpPr>
        <p:spPr bwMode="auto">
          <a:xfrm>
            <a:off x="3962054" y="150468"/>
            <a:ext cx="5181946" cy="370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3" tIns="45702" rIns="91403" bIns="45702">
            <a:spAutoFit/>
          </a:bodyPr>
          <a:lstStyle>
            <a:lvl1pPr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defTabSz="85194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1800" b="1">
                <a:solidFill>
                  <a:srgbClr val="D99694"/>
                </a:solidFill>
                <a:latin typeface="Candara" pitchFamily="34" charset="0"/>
                <a:ea typeface="가을체" pitchFamily="18" charset="-127"/>
                <a:cs typeface="Arial" pitchFamily="34" charset="0"/>
              </a:rPr>
              <a:t>Arduino &amp; Internet of Things.</a:t>
            </a:r>
            <a:endParaRPr kumimoji="1" lang="ko-KR" altLang="en-US" sz="1800">
              <a:solidFill>
                <a:srgbClr val="D99694"/>
              </a:solidFill>
              <a:latin typeface="Candara" pitchFamily="34" charset="0"/>
              <a:ea typeface="가을체" pitchFamily="18" charset="-127"/>
              <a:cs typeface="Arial" pitchFamily="34" charset="0"/>
            </a:endParaRPr>
          </a:p>
        </p:txBody>
      </p:sp>
      <p:sp>
        <p:nvSpPr>
          <p:cNvPr id="65543" name="직사각형 8"/>
          <p:cNvSpPr>
            <a:spLocks noChangeArrowheads="1"/>
          </p:cNvSpPr>
          <p:nvPr/>
        </p:nvSpPr>
        <p:spPr bwMode="auto">
          <a:xfrm>
            <a:off x="201586" y="485329"/>
            <a:ext cx="8740828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초음파센서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Ultra Sound</a:t>
            </a:r>
          </a:p>
        </p:txBody>
      </p:sp>
    </p:spTree>
    <p:extLst>
      <p:ext uri="{BB962C8B-B14F-4D97-AF65-F5344CB8AC3E}">
        <p14:creationId xmlns:p14="http://schemas.microsoft.com/office/powerpoint/2010/main" val="46570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3"/>
            <a:ext cx="8147928" cy="1070963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작동원리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Arial" pitchFamily="34" charset="0"/>
              <a:buNone/>
            </a:pPr>
            <a:r>
              <a:rPr lang="ko-KR" altLang="en-US" sz="2200"/>
              <a:t>측정거리</a:t>
            </a:r>
            <a:r>
              <a:rPr lang="en-US" altLang="ko-KR" sz="2200"/>
              <a:t>: 2cm ~ 5m (4m), </a:t>
            </a:r>
            <a:r>
              <a:rPr lang="ko-KR" altLang="en-US" sz="2200"/>
              <a:t>측정각도</a:t>
            </a:r>
            <a:r>
              <a:rPr lang="en-US" altLang="ko-KR" sz="2200"/>
              <a:t>: 15 </a:t>
            </a:r>
            <a:r>
              <a:rPr lang="ko-KR" altLang="en-US" sz="2200"/>
              <a:t>도</a:t>
            </a:r>
            <a:r>
              <a:rPr lang="en-US" altLang="ko-KR" sz="2200"/>
              <a:t>, </a:t>
            </a:r>
            <a:r>
              <a:rPr lang="ko-KR" altLang="en-US" sz="2200"/>
              <a:t>측정 해상도</a:t>
            </a:r>
            <a:r>
              <a:rPr lang="en-US" altLang="ko-KR" sz="2200"/>
              <a:t>: 3mm</a:t>
            </a:r>
            <a:endParaRPr lang="ko-KR" altLang="en-US" sz="2200"/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</p:txBody>
      </p:sp>
      <p:sp>
        <p:nvSpPr>
          <p:cNvPr id="66563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2AB2A09-23B4-4618-919F-665BA4A23073}" type="slidenum">
              <a:rPr lang="en-US" altLang="ko-KR" sz="1700" b="1">
                <a:solidFill>
                  <a:srgbClr val="1F497D"/>
                </a:solidFill>
              </a:rPr>
              <a:pPr/>
              <a:t>22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66567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초음파센서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Ultra Sound</a:t>
            </a:r>
          </a:p>
        </p:txBody>
      </p:sp>
      <p:pic>
        <p:nvPicPr>
          <p:cNvPr id="6656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1873" y="2358777"/>
            <a:ext cx="4839545" cy="33043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9" name="직사각형 5"/>
          <p:cNvSpPr>
            <a:spLocks noChangeArrowheads="1"/>
          </p:cNvSpPr>
          <p:nvPr/>
        </p:nvSpPr>
        <p:spPr bwMode="auto">
          <a:xfrm>
            <a:off x="1210999" y="3069800"/>
            <a:ext cx="1252211" cy="3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3" tIns="45706" rIns="91413" bIns="45706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TRIG </a:t>
            </a:r>
            <a:r>
              <a:rPr kumimoji="1" lang="ko-KR" alt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포트</a:t>
            </a:r>
          </a:p>
        </p:txBody>
      </p:sp>
      <p:sp>
        <p:nvSpPr>
          <p:cNvPr id="66570" name="직사각형 6"/>
          <p:cNvSpPr>
            <a:spLocks noChangeArrowheads="1"/>
          </p:cNvSpPr>
          <p:nvPr/>
        </p:nvSpPr>
        <p:spPr bwMode="auto">
          <a:xfrm>
            <a:off x="1211000" y="4699848"/>
            <a:ext cx="1378849" cy="3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3" tIns="45706" rIns="91413" bIns="45706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ECHO </a:t>
            </a:r>
            <a:r>
              <a:rPr kumimoji="1" lang="ko-KR" alt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포트</a:t>
            </a:r>
          </a:p>
        </p:txBody>
      </p:sp>
      <p:sp>
        <p:nvSpPr>
          <p:cNvPr id="66571" name="직사각형 7"/>
          <p:cNvSpPr>
            <a:spLocks noChangeArrowheads="1"/>
          </p:cNvSpPr>
          <p:nvPr/>
        </p:nvSpPr>
        <p:spPr bwMode="auto">
          <a:xfrm>
            <a:off x="3883496" y="2563821"/>
            <a:ext cx="1184885" cy="3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3" tIns="45706" rIns="91413" bIns="45706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출력 신호</a:t>
            </a:r>
          </a:p>
        </p:txBody>
      </p:sp>
      <p:sp>
        <p:nvSpPr>
          <p:cNvPr id="66572" name="직사각형 8"/>
          <p:cNvSpPr>
            <a:spLocks noChangeArrowheads="1"/>
          </p:cNvSpPr>
          <p:nvPr/>
        </p:nvSpPr>
        <p:spPr bwMode="auto">
          <a:xfrm>
            <a:off x="4101387" y="4303032"/>
            <a:ext cx="1184885" cy="36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3" tIns="45706" rIns="91413" bIns="45706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반향 신호</a:t>
            </a:r>
          </a:p>
        </p:txBody>
      </p:sp>
    </p:spTree>
    <p:extLst>
      <p:ext uri="{BB962C8B-B14F-4D97-AF65-F5344CB8AC3E}">
        <p14:creationId xmlns:p14="http://schemas.microsoft.com/office/powerpoint/2010/main" val="290306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62462" y="1121121"/>
            <a:ext cx="8147928" cy="66972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작동원리</a:t>
            </a:r>
            <a:endParaRPr lang="en-US" altLang="ko-KR" sz="2200" b="1">
              <a:solidFill>
                <a:srgbClr val="0000FF"/>
              </a:solidFill>
            </a:endParaRPr>
          </a:p>
        </p:txBody>
      </p:sp>
      <p:sp>
        <p:nvSpPr>
          <p:cNvPr id="67587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37BCD16D-7017-479E-9689-D74AEB664B7D}" type="slidenum">
              <a:rPr lang="en-US" altLang="ko-KR" sz="1700" b="1">
                <a:solidFill>
                  <a:srgbClr val="1F497D"/>
                </a:solidFill>
              </a:rPr>
              <a:pPr/>
              <a:t>23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67591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초음파센서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Ultra Sound</a:t>
            </a:r>
          </a:p>
        </p:txBody>
      </p:sp>
      <p:pic>
        <p:nvPicPr>
          <p:cNvPr id="6759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469" y="3717393"/>
            <a:ext cx="5184910" cy="24045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1007930" y="1756912"/>
            <a:ext cx="6840584" cy="2031297"/>
          </a:xfrm>
          <a:prstGeom prst="rect">
            <a:avLst/>
          </a:prstGeom>
          <a:noFill/>
        </p:spPr>
        <p:txBody>
          <a:bodyPr lIns="91413" tIns="45706" rIns="91413" bIns="45706">
            <a:spAutoFit/>
          </a:bodyPr>
          <a:lstStyle/>
          <a:p>
            <a:pPr marL="342798" indent="-342798" defTabSz="851946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kumimoji="1" lang="ko-KR" altLang="en-US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아두이노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 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Trigger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 핀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: HIGH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입력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-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초음파 모듈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: 40KHz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음파발사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, Echo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핀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: High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상태</a:t>
            </a:r>
            <a:endParaRPr kumimoji="1" lang="en-US" altLang="ko-KR" dirty="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 marL="342798" indent="-342798" defTabSz="851946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음파반사 수신되면 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Echo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핀 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low </a:t>
            </a:r>
            <a:r>
              <a:rPr kumimoji="1" lang="ko-KR" altLang="en-US" dirty="0" err="1">
                <a:solidFill>
                  <a:prstClr val="black"/>
                </a:solidFill>
                <a:latin typeface="굴림" charset="-127"/>
                <a:ea typeface="굴림" charset="-127"/>
              </a:rPr>
              <a:t>상태됨</a:t>
            </a:r>
            <a:endParaRPr kumimoji="1" lang="en-US" altLang="ko-KR" dirty="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 marL="342798" indent="-342798" defTabSz="851946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이 간격에서 </a:t>
            </a:r>
            <a:r>
              <a:rPr kumimoji="1" lang="ko-KR" altLang="en-US" dirty="0" smtClean="0">
                <a:solidFill>
                  <a:prstClr val="black"/>
                </a:solidFill>
                <a:latin typeface="굴림" charset="-127"/>
                <a:ea typeface="굴림" charset="-127"/>
              </a:rPr>
              <a:t>거리 구하고 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2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로 나눔</a:t>
            </a:r>
            <a:endParaRPr kumimoji="1" lang="en-US" altLang="ko-KR" dirty="0">
              <a:solidFill>
                <a:prstClr val="black"/>
              </a:solidFill>
              <a:latin typeface="굴림" charset="-127"/>
              <a:ea typeface="굴림" charset="-127"/>
            </a:endParaRPr>
          </a:p>
          <a:p>
            <a:pPr marL="342798" indent="-342798" defTabSz="851946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계산식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: 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거리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=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시간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/29/2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     (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음파속도 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340m/sec, 1m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가는데 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29us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걸림</a:t>
            </a: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)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>
                <a:solidFill>
                  <a:prstClr val="black"/>
                </a:solidFill>
                <a:latin typeface="굴림" charset="-127"/>
                <a:ea typeface="굴림" charset="-127"/>
              </a:rPr>
              <a:t>5.  4 </a:t>
            </a:r>
            <a:r>
              <a:rPr kumimoji="1" lang="ko-KR" altLang="en-US" dirty="0">
                <a:solidFill>
                  <a:prstClr val="black"/>
                </a:solidFill>
                <a:latin typeface="굴림" charset="-127"/>
                <a:ea typeface="굴림" charset="-127"/>
              </a:rPr>
              <a:t>미터 거리까지 측정 가능</a:t>
            </a:r>
          </a:p>
        </p:txBody>
      </p:sp>
    </p:spTree>
    <p:extLst>
      <p:ext uri="{BB962C8B-B14F-4D97-AF65-F5344CB8AC3E}">
        <p14:creationId xmlns:p14="http://schemas.microsoft.com/office/powerpoint/2010/main" val="355365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3"/>
            <a:ext cx="8147928" cy="66972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아두이노 연결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</p:txBody>
      </p:sp>
      <p:sp>
        <p:nvSpPr>
          <p:cNvPr id="6861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06A9635-2959-45A3-820E-56BB6CEADC5D}" type="slidenum">
              <a:rPr lang="en-US" altLang="ko-KR" sz="1700" b="1">
                <a:solidFill>
                  <a:srgbClr val="1F497D"/>
                </a:solidFill>
              </a:rPr>
              <a:pPr/>
              <a:t>24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68615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초음파센서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Ultra Sound</a:t>
            </a:r>
          </a:p>
        </p:txBody>
      </p:sp>
      <p:pic>
        <p:nvPicPr>
          <p:cNvPr id="6861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58573" y="1101942"/>
            <a:ext cx="3815311" cy="31022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3093456" y="3897364"/>
          <a:ext cx="4086564" cy="208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282"/>
                <a:gridCol w="2043282"/>
              </a:tblGrid>
              <a:tr h="5006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dirty="0" smtClean="0"/>
                        <a:t>초음파 센서 모듈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dirty="0" err="1" smtClean="0"/>
                        <a:t>아두이노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</a:tr>
              <a:tr h="3810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 smtClean="0"/>
                        <a:t>VCC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 smtClean="0"/>
                        <a:t>5V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</a:tr>
              <a:tr h="399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 smtClean="0"/>
                        <a:t>Trig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 smtClean="0"/>
                        <a:t>D12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</a:tr>
              <a:tr h="399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 smtClean="0"/>
                        <a:t>Echo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 smtClean="0"/>
                        <a:t>D13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</a:tr>
              <a:tr h="399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 smtClean="0"/>
                        <a:t>GND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900" dirty="0" smtClean="0"/>
                        <a:t>GND</a:t>
                      </a:r>
                      <a:endParaRPr lang="ko-KR" altLang="en-US" sz="1900" dirty="0"/>
                    </a:p>
                  </a:txBody>
                  <a:tcPr marL="91449" marR="91449" marT="45745" marB="4574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34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31"/>
            <a:ext cx="8147927" cy="80248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코드</a:t>
            </a:r>
            <a:r>
              <a:rPr lang="ko-KR" altLang="en-US" sz="2200" b="1" dirty="0" smtClean="0">
                <a:solidFill>
                  <a:srgbClr val="0000FF"/>
                </a:solidFill>
              </a:rPr>
              <a:t>: 기본 기능</a:t>
            </a:r>
            <a:endParaRPr lang="en-US" altLang="ko-KR" sz="2200" b="1" dirty="0">
              <a:solidFill>
                <a:srgbClr val="0000FF"/>
              </a:solidFill>
            </a:endParaRPr>
          </a:p>
        </p:txBody>
      </p:sp>
      <p:sp>
        <p:nvSpPr>
          <p:cNvPr id="4915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99D3CB07-8E68-42EA-803F-8172AEC64E9F}" type="slidenum">
              <a:rPr lang="en-US" altLang="ko-KR" sz="1700" b="1">
                <a:solidFill>
                  <a:srgbClr val="1F497D"/>
                </a:solidFill>
              </a:rPr>
              <a:pPr/>
              <a:t>25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49159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초음파센서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Ultra Sound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90548" y="1792064"/>
            <a:ext cx="4200696" cy="331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r>
              <a:rPr lang="en-US" altLang="ko-KR" sz="1400" dirty="0" smtClean="0"/>
              <a:t>#</a:t>
            </a:r>
            <a:r>
              <a:rPr lang="en-US" altLang="ko-KR" sz="1400" dirty="0"/>
              <a:t>define </a:t>
            </a:r>
            <a:r>
              <a:rPr lang="en-US" altLang="ko-KR" sz="1400" dirty="0" err="1"/>
              <a:t>trigPin</a:t>
            </a:r>
            <a:r>
              <a:rPr lang="en-US" altLang="ko-KR" sz="1400" dirty="0"/>
              <a:t> 12 </a:t>
            </a:r>
          </a:p>
          <a:p>
            <a:r>
              <a:rPr lang="en-US" altLang="ko-KR" sz="1400" dirty="0"/>
              <a:t>#define </a:t>
            </a:r>
            <a:r>
              <a:rPr lang="en-US" altLang="ko-KR" sz="1400" dirty="0" err="1"/>
              <a:t>echoPin</a:t>
            </a:r>
            <a:r>
              <a:rPr lang="en-US" altLang="ko-KR" sz="1400" dirty="0"/>
              <a:t> 13 </a:t>
            </a:r>
          </a:p>
          <a:p>
            <a:r>
              <a:rPr lang="en-US" altLang="ko-KR" sz="1400" dirty="0"/>
              <a:t>void setup() { </a:t>
            </a:r>
          </a:p>
          <a:p>
            <a:r>
              <a:rPr lang="en-US" altLang="ko-KR" sz="1400" dirty="0" smtClean="0"/>
              <a:t>   // </a:t>
            </a:r>
            <a:r>
              <a:rPr lang="ko-KR" altLang="en-US" sz="1400" dirty="0"/>
              <a:t>시리얼 포트 </a:t>
            </a:r>
            <a:r>
              <a:rPr lang="en-US" altLang="ko-KR" sz="1400" dirty="0"/>
              <a:t>9600 </a:t>
            </a:r>
            <a:r>
              <a:rPr lang="ko-KR" altLang="en-US" sz="1400" dirty="0"/>
              <a:t>속도 초기화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Serial.begin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(9600); </a:t>
            </a:r>
          </a:p>
          <a:p>
            <a:r>
              <a:rPr lang="en-US" altLang="ko-KR" sz="1400" dirty="0" smtClean="0"/>
              <a:t>   // </a:t>
            </a:r>
            <a:r>
              <a:rPr lang="ko-KR" altLang="en-US" sz="1400" dirty="0"/>
              <a:t>센서 </a:t>
            </a:r>
            <a:r>
              <a:rPr lang="en-US" altLang="ko-KR" sz="1400" dirty="0"/>
              <a:t>Trig </a:t>
            </a:r>
            <a:r>
              <a:rPr lang="ko-KR" altLang="en-US" sz="1400" dirty="0"/>
              <a:t>연결 포트를 출력으로 </a:t>
            </a:r>
            <a:r>
              <a:rPr lang="ko-KR" altLang="en-US" sz="1400" dirty="0" smtClean="0"/>
              <a:t>설정</a:t>
            </a:r>
            <a:endParaRPr lang="en-US" altLang="ko-KR" sz="1400" dirty="0"/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pinMode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trigPin</a:t>
            </a:r>
            <a:r>
              <a:rPr lang="en-US" altLang="ko-KR" sz="1400" dirty="0"/>
              <a:t>, OUTPUT); </a:t>
            </a:r>
          </a:p>
          <a:p>
            <a:r>
              <a:rPr lang="en-US" altLang="ko-KR" sz="1400" dirty="0" smtClean="0"/>
              <a:t>   // </a:t>
            </a:r>
            <a:r>
              <a:rPr lang="ko-KR" altLang="en-US" sz="1400" dirty="0"/>
              <a:t>센서 에코 </a:t>
            </a:r>
            <a:r>
              <a:rPr lang="ko-KR" altLang="en-US" sz="1400" dirty="0" err="1"/>
              <a:t>연결핀은</a:t>
            </a:r>
            <a:r>
              <a:rPr lang="ko-KR" altLang="en-US" sz="1400" dirty="0"/>
              <a:t> 입력 모드로 설정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pinMode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echoPin</a:t>
            </a:r>
            <a:r>
              <a:rPr lang="en-US" altLang="ko-KR" sz="1400" dirty="0"/>
              <a:t>, INPUT); </a:t>
            </a:r>
          </a:p>
          <a:p>
            <a:r>
              <a:rPr lang="en-US" altLang="ko-KR" sz="1400" dirty="0"/>
              <a:t>} </a:t>
            </a:r>
          </a:p>
          <a:p>
            <a:r>
              <a:rPr lang="en-US" altLang="ko-KR" sz="1400" dirty="0"/>
              <a:t>void loop() { </a:t>
            </a:r>
          </a:p>
          <a:p>
            <a:r>
              <a:rPr lang="en-US" altLang="ko-KR" sz="1400" dirty="0" smtClean="0"/>
              <a:t>   // </a:t>
            </a:r>
            <a:r>
              <a:rPr lang="ko-KR" altLang="en-US" sz="1400" dirty="0"/>
              <a:t>지속시간 </a:t>
            </a:r>
            <a:r>
              <a:rPr lang="en-US" altLang="ko-KR" sz="1400" dirty="0"/>
              <a:t>, </a:t>
            </a:r>
            <a:r>
              <a:rPr lang="ko-KR" altLang="en-US" sz="1400" dirty="0"/>
              <a:t>거리 변수 정의 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/>
              <a:t>duration, distance; 	</a:t>
            </a:r>
            <a:endParaRPr lang="en-US" altLang="ko-KR" sz="1400" dirty="0" smtClean="0"/>
          </a:p>
          <a:p>
            <a:r>
              <a:rPr lang="en-US" altLang="ko-KR" sz="1400" dirty="0" smtClean="0"/>
              <a:t>   // </a:t>
            </a:r>
            <a:endParaRPr lang="en-US" altLang="ko-KR" sz="1400" dirty="0"/>
          </a:p>
          <a:p>
            <a:endParaRPr lang="en-US" altLang="ko-KR" sz="1400" dirty="0"/>
          </a:p>
        </p:txBody>
      </p:sp>
      <p:sp>
        <p:nvSpPr>
          <p:cNvPr id="12" name="직사각형 11"/>
          <p:cNvSpPr/>
          <p:nvPr/>
        </p:nvSpPr>
        <p:spPr>
          <a:xfrm>
            <a:off x="4599524" y="1792064"/>
            <a:ext cx="4200696" cy="322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r>
              <a:rPr lang="en-US" altLang="ko-KR" sz="1400" dirty="0" smtClean="0"/>
              <a:t>   // </a:t>
            </a:r>
            <a:endParaRPr lang="en-US" altLang="ko-KR" sz="1400" dirty="0"/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digitalWrite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trigPin</a:t>
            </a:r>
            <a:r>
              <a:rPr lang="en-US" altLang="ko-KR" sz="1400" dirty="0"/>
              <a:t>, HIGH); 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delayMicroseconds</a:t>
            </a:r>
            <a:r>
              <a:rPr lang="en-US" altLang="ko-KR" sz="1400" dirty="0" smtClean="0"/>
              <a:t>(1000</a:t>
            </a:r>
            <a:r>
              <a:rPr lang="en-US" altLang="ko-KR" sz="1400" dirty="0"/>
              <a:t>); </a:t>
            </a:r>
          </a:p>
          <a:p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digitalWrite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trigPin</a:t>
            </a:r>
            <a:r>
              <a:rPr lang="en-US" altLang="ko-KR" sz="1400" dirty="0"/>
              <a:t>, LOW); </a:t>
            </a:r>
          </a:p>
          <a:p>
            <a:r>
              <a:rPr lang="en-US" altLang="ko-KR" sz="1400" dirty="0" smtClean="0"/>
              <a:t>   duration </a:t>
            </a:r>
            <a:r>
              <a:rPr lang="en-US" altLang="ko-KR" sz="1400" dirty="0"/>
              <a:t>= </a:t>
            </a:r>
            <a:r>
              <a:rPr lang="en-US" altLang="ko-KR" sz="1400" dirty="0" err="1"/>
              <a:t>pulseIn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echoPin</a:t>
            </a:r>
            <a:r>
              <a:rPr lang="en-US" altLang="ko-KR" sz="1400" dirty="0"/>
              <a:t>, HIGH); </a:t>
            </a:r>
          </a:p>
          <a:p>
            <a:r>
              <a:rPr lang="en-US" altLang="ko-KR" sz="1400" dirty="0" smtClean="0"/>
              <a:t>   distance </a:t>
            </a:r>
            <a:r>
              <a:rPr lang="en-US" altLang="ko-KR" sz="1400" dirty="0"/>
              <a:t>= (duration/2) / 29.1; </a:t>
            </a:r>
          </a:p>
          <a:p>
            <a:r>
              <a:rPr lang="en-US" altLang="ko-KR" sz="1400" dirty="0" smtClean="0"/>
              <a:t>   if </a:t>
            </a:r>
            <a:r>
              <a:rPr lang="en-US" altLang="ko-KR" sz="1400" dirty="0"/>
              <a:t>(distance &gt;= 200 || distance &lt;= 0) {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Serial.println</a:t>
            </a:r>
            <a:r>
              <a:rPr lang="en-US" altLang="ko-KR" sz="1400" dirty="0"/>
              <a:t>("Out of range"); </a:t>
            </a:r>
          </a:p>
          <a:p>
            <a:r>
              <a:rPr lang="en-US" altLang="ko-KR" sz="1400" dirty="0" smtClean="0"/>
              <a:t>   } </a:t>
            </a:r>
            <a:r>
              <a:rPr lang="en-US" altLang="ko-KR" sz="1400" dirty="0"/>
              <a:t>else {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</a:t>
            </a:r>
            <a:r>
              <a:rPr lang="en-US" altLang="ko-KR" sz="1400" dirty="0" smtClean="0"/>
              <a:t>(distance</a:t>
            </a:r>
            <a:r>
              <a:rPr lang="en-US" altLang="ko-KR" sz="1400" dirty="0"/>
              <a:t>); </a:t>
            </a:r>
          </a:p>
          <a:p>
            <a:r>
              <a:rPr lang="en-US" altLang="ko-KR" sz="1400" dirty="0" smtClean="0"/>
              <a:t>      </a:t>
            </a:r>
            <a:r>
              <a:rPr lang="en-US" altLang="ko-KR" sz="1400" dirty="0" err="1" smtClean="0"/>
              <a:t>Serial.println</a:t>
            </a:r>
            <a:r>
              <a:rPr lang="en-US" altLang="ko-KR" sz="1400" dirty="0"/>
              <a:t>(" cm"); </a:t>
            </a:r>
          </a:p>
          <a:p>
            <a:r>
              <a:rPr lang="en-US" altLang="ko-KR" sz="1400" dirty="0" smtClean="0"/>
              <a:t>   } </a:t>
            </a:r>
            <a:endParaRPr lang="en-US" altLang="ko-KR" sz="1400" dirty="0"/>
          </a:p>
          <a:p>
            <a:r>
              <a:rPr lang="en-US" altLang="ko-KR" sz="1400" dirty="0" smtClean="0"/>
              <a:t>   delay(500</a:t>
            </a:r>
            <a:r>
              <a:rPr lang="en-US" altLang="ko-KR" sz="1400" dirty="0"/>
              <a:t>); </a:t>
            </a:r>
          </a:p>
          <a:p>
            <a:r>
              <a:rPr lang="en-US" altLang="ko-KR" sz="1400" dirty="0"/>
              <a:t>} 	</a:t>
            </a:r>
          </a:p>
        </p:txBody>
      </p:sp>
    </p:spTree>
    <p:extLst>
      <p:ext uri="{BB962C8B-B14F-4D97-AF65-F5344CB8AC3E}">
        <p14:creationId xmlns:p14="http://schemas.microsoft.com/office/powerpoint/2010/main" val="100736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57326" y="1171276"/>
            <a:ext cx="8147928" cy="585637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</a:t>
            </a:r>
            <a:r>
              <a:rPr lang="en-US" altLang="ko-KR" sz="2200" b="1">
                <a:solidFill>
                  <a:srgbClr val="0000FF"/>
                </a:solidFill>
              </a:rPr>
              <a:t>: NewPing.h</a:t>
            </a:r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</p:txBody>
      </p:sp>
      <p:sp>
        <p:nvSpPr>
          <p:cNvPr id="7065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271D42CC-60D9-4D39-8DCA-940BA6247FCD}" type="slidenum">
              <a:rPr lang="en-US" altLang="ko-KR" sz="1700" b="1">
                <a:solidFill>
                  <a:srgbClr val="1F497D"/>
                </a:solidFill>
              </a:rPr>
              <a:pPr/>
              <a:t>26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0662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3" tIns="45702" rIns="91403" bIns="45702">
            <a:spAutoFit/>
          </a:bodyPr>
          <a:lstStyle>
            <a:lvl1pPr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defTabSz="85194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1800" b="1">
                <a:solidFill>
                  <a:srgbClr val="D99694"/>
                </a:solidFill>
                <a:latin typeface="Candara" pitchFamily="34" charset="0"/>
                <a:ea typeface="가을체" pitchFamily="18" charset="-127"/>
                <a:cs typeface="Arial" pitchFamily="34" charset="0"/>
              </a:rPr>
              <a:t>Arduino &amp; Internet of Things.</a:t>
            </a:r>
            <a:endParaRPr kumimoji="1" lang="ko-KR" altLang="en-US" sz="1800">
              <a:solidFill>
                <a:srgbClr val="D99694"/>
              </a:solidFill>
              <a:latin typeface="Candara" pitchFamily="34" charset="0"/>
              <a:ea typeface="가을체" pitchFamily="18" charset="-127"/>
              <a:cs typeface="Arial" pitchFamily="34" charset="0"/>
            </a:endParaRPr>
          </a:p>
        </p:txBody>
      </p:sp>
      <p:sp>
        <p:nvSpPr>
          <p:cNvPr id="70663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  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초음파센서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Ultra Sound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745575" y="1749535"/>
            <a:ext cx="8230933" cy="452577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  <a:defRPr/>
            </a:pPr>
            <a:r>
              <a:rPr lang="en-US" altLang="ko-KR" dirty="0"/>
              <a:t>#include &lt;</a:t>
            </a:r>
            <a:r>
              <a:rPr lang="en-US" altLang="ko-KR" dirty="0" err="1"/>
              <a:t>NewPing.h</a:t>
            </a:r>
            <a:r>
              <a:rPr lang="en-US" altLang="ko-KR" dirty="0"/>
              <a:t>&gt; </a:t>
            </a:r>
          </a:p>
          <a:p>
            <a:pPr marL="0" indent="0">
              <a:buNone/>
              <a:defRPr/>
            </a:pPr>
            <a:r>
              <a:rPr lang="en-US" altLang="ko-KR" dirty="0"/>
              <a:t>#define TRIGGER_PIN 12 </a:t>
            </a:r>
          </a:p>
          <a:p>
            <a:pPr marL="0" indent="0">
              <a:buNone/>
              <a:defRPr/>
            </a:pPr>
            <a:r>
              <a:rPr lang="en-US" altLang="ko-KR" dirty="0"/>
              <a:t>#define ECHO_PIN 13 </a:t>
            </a:r>
          </a:p>
          <a:p>
            <a:pPr marL="0" indent="0">
              <a:buNone/>
              <a:defRPr/>
            </a:pPr>
            <a:r>
              <a:rPr lang="en-US" altLang="ko-KR" dirty="0"/>
              <a:t>#define MAX_DISTANCE 400 // 4 </a:t>
            </a:r>
            <a:r>
              <a:rPr lang="ko-KR" altLang="en-US" dirty="0"/>
              <a:t>미터 </a:t>
            </a:r>
          </a:p>
          <a:p>
            <a:pPr marL="0" indent="0">
              <a:buNone/>
              <a:defRPr/>
            </a:pPr>
            <a:r>
              <a:rPr lang="en-US" altLang="ko-KR" dirty="0" err="1"/>
              <a:t>NewPing</a:t>
            </a:r>
            <a:r>
              <a:rPr lang="en-US" altLang="ko-KR" dirty="0"/>
              <a:t> sonar(TRIGGER_PIN, ECHO_PIN, MAX_DISTANCE); </a:t>
            </a:r>
          </a:p>
          <a:p>
            <a:pPr marL="0" indent="0">
              <a:buNone/>
              <a:defRPr/>
            </a:pPr>
            <a:r>
              <a:rPr lang="en-US" altLang="ko-KR" dirty="0"/>
              <a:t>void setup() { </a:t>
            </a:r>
          </a:p>
          <a:p>
            <a:pPr marL="0" indent="0">
              <a:buNone/>
              <a:defRPr/>
            </a:pPr>
            <a:r>
              <a:rPr lang="en-US" altLang="ko-KR" dirty="0" err="1"/>
              <a:t>Serial.begin</a:t>
            </a:r>
            <a:r>
              <a:rPr lang="en-US" altLang="ko-KR" dirty="0"/>
              <a:t>(9600); </a:t>
            </a:r>
          </a:p>
          <a:p>
            <a:pPr marL="0" indent="0">
              <a:buNone/>
              <a:defRPr/>
            </a:pPr>
            <a:r>
              <a:rPr lang="en-US" altLang="ko-KR" dirty="0"/>
              <a:t>} </a:t>
            </a:r>
          </a:p>
          <a:p>
            <a:pPr marL="0" indent="0">
              <a:buNone/>
              <a:defRPr/>
            </a:pPr>
            <a:r>
              <a:rPr lang="en-US" altLang="ko-KR" dirty="0"/>
              <a:t>void loop() { </a:t>
            </a:r>
          </a:p>
          <a:p>
            <a:pPr marL="0" indent="0">
              <a:buNone/>
              <a:defRPr/>
            </a:pPr>
            <a:r>
              <a:rPr lang="en-US" altLang="ko-KR" dirty="0"/>
              <a:t>delay(50); // </a:t>
            </a:r>
          </a:p>
          <a:p>
            <a:pPr marL="0" indent="0">
              <a:buNone/>
              <a:defRPr/>
            </a:pP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uS</a:t>
            </a:r>
            <a:r>
              <a:rPr lang="en-US" altLang="ko-KR" dirty="0"/>
              <a:t> = </a:t>
            </a:r>
            <a:r>
              <a:rPr lang="en-US" altLang="ko-KR" dirty="0" err="1"/>
              <a:t>sonar.ping</a:t>
            </a:r>
            <a:r>
              <a:rPr lang="en-US" altLang="ko-KR" dirty="0"/>
              <a:t>(); </a:t>
            </a:r>
          </a:p>
          <a:p>
            <a:pPr marL="0" indent="0">
              <a:buNone/>
              <a:defRPr/>
            </a:pPr>
            <a:r>
              <a:rPr lang="en-US" altLang="ko-KR" dirty="0"/>
              <a:t>// </a:t>
            </a:r>
            <a:r>
              <a:rPr lang="ko-KR" altLang="en-US" dirty="0"/>
              <a:t>측정된 거리</a:t>
            </a:r>
            <a:r>
              <a:rPr lang="en-US" altLang="ko-KR" dirty="0"/>
              <a:t>. </a:t>
            </a:r>
          </a:p>
          <a:p>
            <a:pPr marL="0" indent="0">
              <a:buNone/>
              <a:defRPr/>
            </a:pPr>
            <a:r>
              <a:rPr lang="en-US" altLang="ko-KR" dirty="0" err="1"/>
              <a:t>Serial.print</a:t>
            </a:r>
            <a:r>
              <a:rPr lang="en-US" altLang="ko-KR" dirty="0"/>
              <a:t>("Ping: "); </a:t>
            </a:r>
          </a:p>
          <a:p>
            <a:pPr marL="0" indent="0">
              <a:buNone/>
              <a:defRPr/>
            </a:pPr>
            <a:r>
              <a:rPr lang="en-US" altLang="ko-KR" dirty="0" err="1"/>
              <a:t>Serial.print</a:t>
            </a:r>
            <a:r>
              <a:rPr lang="en-US" altLang="ko-KR" dirty="0"/>
              <a:t>(</a:t>
            </a:r>
            <a:r>
              <a:rPr lang="en-US" altLang="ko-KR" dirty="0" err="1"/>
              <a:t>uS</a:t>
            </a:r>
            <a:r>
              <a:rPr lang="en-US" altLang="ko-KR" dirty="0"/>
              <a:t> / US_ROUNDTRIP_CM); </a:t>
            </a:r>
          </a:p>
          <a:p>
            <a:pPr marL="0" indent="0">
              <a:buNone/>
              <a:defRPr/>
            </a:pPr>
            <a:r>
              <a:rPr lang="en-US" altLang="ko-KR" dirty="0" err="1"/>
              <a:t>Serial.println</a:t>
            </a:r>
            <a:r>
              <a:rPr lang="en-US" altLang="ko-KR" dirty="0"/>
              <a:t>("cm"); </a:t>
            </a:r>
          </a:p>
          <a:p>
            <a:pPr marL="0" indent="0">
              <a:buNone/>
              <a:defRPr/>
            </a:pPr>
            <a:r>
              <a:rPr lang="en-US" altLang="ko-KR" dirty="0"/>
              <a:t>} 	</a:t>
            </a:r>
          </a:p>
        </p:txBody>
      </p:sp>
    </p:spTree>
    <p:extLst>
      <p:ext uri="{BB962C8B-B14F-4D97-AF65-F5344CB8AC3E}">
        <p14:creationId xmlns:p14="http://schemas.microsoft.com/office/powerpoint/2010/main" val="428571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57326" y="1171276"/>
            <a:ext cx="8147928" cy="585637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</a:t>
            </a:r>
            <a:r>
              <a:rPr lang="en-US" altLang="ko-KR" sz="2200" b="1">
                <a:solidFill>
                  <a:srgbClr val="0000FF"/>
                </a:solidFill>
              </a:rPr>
              <a:t>: </a:t>
            </a:r>
            <a:r>
              <a:rPr lang="ko-KR" altLang="en-US" sz="2200" b="1">
                <a:solidFill>
                  <a:srgbClr val="0000FF"/>
                </a:solidFill>
              </a:rPr>
              <a:t>다이렉트 </a:t>
            </a:r>
            <a:r>
              <a:rPr lang="en-US" altLang="ko-KR" sz="2200" b="1">
                <a:solidFill>
                  <a:srgbClr val="0000FF"/>
                </a:solidFill>
              </a:rPr>
              <a:t>Trig, Echo</a:t>
            </a:r>
          </a:p>
          <a:p>
            <a:pPr eaLnBrk="1" hangingPunct="1">
              <a:buFont typeface="Arial" pitchFamily="34" charset="0"/>
              <a:buNone/>
            </a:pPr>
            <a:endParaRPr lang="en-US" altLang="ko-KR" sz="2200"/>
          </a:p>
        </p:txBody>
      </p:sp>
      <p:sp>
        <p:nvSpPr>
          <p:cNvPr id="71683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6DB59B6-708F-468C-822D-BA03C968A8AA}" type="slidenum">
              <a:rPr lang="en-US" altLang="ko-KR" sz="1700" b="1">
                <a:solidFill>
                  <a:srgbClr val="1F497D"/>
                </a:solidFill>
              </a:rPr>
              <a:pPr/>
              <a:t>27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1686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3" tIns="45702" rIns="91403" bIns="45702">
            <a:spAutoFit/>
          </a:bodyPr>
          <a:lstStyle>
            <a:lvl1pPr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defTabSz="85194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1800" b="1">
                <a:solidFill>
                  <a:srgbClr val="D99694"/>
                </a:solidFill>
                <a:latin typeface="Candara" pitchFamily="34" charset="0"/>
                <a:ea typeface="가을체" pitchFamily="18" charset="-127"/>
                <a:cs typeface="Arial" pitchFamily="34" charset="0"/>
              </a:rPr>
              <a:t>Arduino &amp; Internet of Things.</a:t>
            </a:r>
            <a:endParaRPr kumimoji="1" lang="ko-KR" altLang="en-US" sz="1800">
              <a:solidFill>
                <a:srgbClr val="D99694"/>
              </a:solidFill>
              <a:latin typeface="Candara" pitchFamily="34" charset="0"/>
              <a:ea typeface="가을체" pitchFamily="18" charset="-127"/>
              <a:cs typeface="Arial" pitchFamily="34" charset="0"/>
            </a:endParaRPr>
          </a:p>
        </p:txBody>
      </p:sp>
      <p:sp>
        <p:nvSpPr>
          <p:cNvPr id="71687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초음파센서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Ultra Sound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715930" y="1863125"/>
            <a:ext cx="8230933" cy="449332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  <a:defRPr/>
            </a:pPr>
            <a:r>
              <a:rPr lang="en-US" altLang="ko-KR" dirty="0"/>
              <a:t>#define ECHO_PIN 13 	</a:t>
            </a:r>
          </a:p>
          <a:p>
            <a:pPr marL="0" indent="0">
              <a:buNone/>
              <a:defRPr/>
            </a:pPr>
            <a:r>
              <a:rPr lang="en-US" altLang="ko-KR" dirty="0"/>
              <a:t>void setup() 	</a:t>
            </a:r>
          </a:p>
          <a:p>
            <a:pPr marL="0" indent="0">
              <a:buNone/>
              <a:defRPr/>
            </a:pPr>
            <a:r>
              <a:rPr lang="en-US" altLang="ko-KR" dirty="0"/>
              <a:t>{ </a:t>
            </a:r>
            <a:r>
              <a:rPr lang="ko-KR" altLang="en-US" dirty="0"/>
              <a:t>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Serial.begin</a:t>
            </a:r>
            <a:r>
              <a:rPr lang="en-US" altLang="ko-KR" dirty="0"/>
              <a:t>(9600); 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pinMode</a:t>
            </a:r>
            <a:r>
              <a:rPr lang="en-US" altLang="ko-KR" dirty="0"/>
              <a:t>(TRIGGER_PINOUTPUT); // </a:t>
            </a:r>
            <a:r>
              <a:rPr lang="ko-KR" altLang="en-US" dirty="0"/>
              <a:t>센서 </a:t>
            </a:r>
            <a:r>
              <a:rPr lang="en-US" altLang="ko-KR" dirty="0"/>
              <a:t>Trig </a:t>
            </a:r>
            <a:r>
              <a:rPr lang="ko-KR" altLang="en-US" dirty="0"/>
              <a:t>핀</a:t>
            </a:r>
            <a:r>
              <a:rPr lang="en-US" altLang="ko-KR" dirty="0"/>
              <a:t>, D12y , 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pinMode</a:t>
            </a:r>
            <a:r>
              <a:rPr lang="en-US" altLang="ko-KR" dirty="0"/>
              <a:t>(ECHO_PININPUT); // </a:t>
            </a:r>
            <a:r>
              <a:rPr lang="ko-KR" altLang="en-US" dirty="0"/>
              <a:t>센서 </a:t>
            </a:r>
            <a:r>
              <a:rPr lang="en-US" altLang="ko-KR" dirty="0"/>
              <a:t>Echo </a:t>
            </a:r>
            <a:r>
              <a:rPr lang="ko-KR" altLang="en-US" dirty="0"/>
              <a:t>핀</a:t>
            </a:r>
            <a:r>
              <a:rPr lang="en-US" altLang="ko-KR" dirty="0"/>
              <a:t>, D13 , 	</a:t>
            </a:r>
          </a:p>
          <a:p>
            <a:pPr marL="0" indent="0">
              <a:buNone/>
              <a:defRPr/>
            </a:pPr>
            <a:r>
              <a:rPr lang="en-US" altLang="ko-KR" dirty="0"/>
              <a:t>}</a:t>
            </a:r>
            <a:r>
              <a:rPr lang="ko-KR" altLang="en-US" dirty="0"/>
              <a:t>	</a:t>
            </a:r>
          </a:p>
          <a:p>
            <a:pPr marL="0" indent="0">
              <a:buNone/>
              <a:defRPr/>
            </a:pPr>
            <a:r>
              <a:rPr lang="en-US" altLang="ko-KR" dirty="0"/>
              <a:t>void loop() 	</a:t>
            </a:r>
          </a:p>
          <a:p>
            <a:pPr marL="0" indent="0">
              <a:buNone/>
              <a:defRPr/>
            </a:pPr>
            <a:r>
              <a:rPr lang="en-US" altLang="ko-KR" dirty="0"/>
              <a:t>{ </a:t>
            </a:r>
            <a:r>
              <a:rPr lang="ko-KR" altLang="en-US" dirty="0"/>
              <a:t>	</a:t>
            </a:r>
          </a:p>
          <a:p>
            <a:pPr marL="0" indent="0">
              <a:buNone/>
              <a:defRPr/>
            </a:pPr>
            <a:r>
              <a:rPr lang="en-US" altLang="ko-KR" dirty="0"/>
              <a:t>long duration, cm; 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digitalWrite</a:t>
            </a:r>
            <a:r>
              <a:rPr lang="en-US" altLang="ko-KR" dirty="0"/>
              <a:t>(TRIGGER_PINHIGH); // </a:t>
            </a:r>
            <a:r>
              <a:rPr lang="ko-KR" altLang="en-US" dirty="0"/>
              <a:t>센서에 </a:t>
            </a:r>
            <a:r>
              <a:rPr lang="en-US" altLang="ko-KR" dirty="0"/>
              <a:t>Trig </a:t>
            </a:r>
            <a:r>
              <a:rPr lang="ko-KR" altLang="en-US" dirty="0"/>
              <a:t>신호 입력 </a:t>
            </a:r>
            <a:r>
              <a:rPr lang="en-US" altLang="ko-KR" dirty="0"/>
              <a:t>, </a:t>
            </a:r>
            <a:r>
              <a:rPr lang="ko-KR" altLang="en-US" dirty="0"/>
              <a:t>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delayMicroseconds</a:t>
            </a:r>
            <a:r>
              <a:rPr lang="en-US" altLang="ko-KR" dirty="0"/>
              <a:t>(10); // 10us </a:t>
            </a:r>
            <a:r>
              <a:rPr lang="ko-KR" altLang="en-US" dirty="0"/>
              <a:t>정도 유지 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digitalWrite</a:t>
            </a:r>
            <a:r>
              <a:rPr lang="en-US" altLang="ko-KR" dirty="0"/>
              <a:t>(TRIGGER_PINLOW); // Trig </a:t>
            </a:r>
            <a:r>
              <a:rPr lang="ko-KR" altLang="en-US" dirty="0"/>
              <a:t>신호 </a:t>
            </a:r>
            <a:r>
              <a:rPr lang="en-US" altLang="ko-KR" dirty="0"/>
              <a:t>off ,	</a:t>
            </a:r>
          </a:p>
          <a:p>
            <a:pPr marL="0" indent="0">
              <a:buNone/>
              <a:defRPr/>
            </a:pPr>
            <a:r>
              <a:rPr lang="en-US" altLang="ko-KR" dirty="0"/>
              <a:t>duration = </a:t>
            </a:r>
            <a:r>
              <a:rPr lang="en-US" altLang="ko-KR" dirty="0" err="1"/>
              <a:t>pulseIn</a:t>
            </a:r>
            <a:r>
              <a:rPr lang="en-US" altLang="ko-KR" dirty="0"/>
              <a:t>(ECHO_PINHIGH); // Echo pin: HIGH-&gt;Low </a:t>
            </a:r>
            <a:r>
              <a:rPr lang="ko-KR" altLang="en-US" dirty="0"/>
              <a:t>간격을 측정 </a:t>
            </a:r>
            <a:r>
              <a:rPr lang="en-US" altLang="ko-KR" dirty="0"/>
              <a:t>,</a:t>
            </a:r>
            <a:r>
              <a:rPr lang="ko-KR" altLang="en-US" dirty="0"/>
              <a:t>	</a:t>
            </a:r>
          </a:p>
          <a:p>
            <a:pPr marL="0" indent="0">
              <a:buNone/>
              <a:defRPr/>
            </a:pPr>
            <a:r>
              <a:rPr lang="en-US" altLang="ko-KR" dirty="0"/>
              <a:t>cm = </a:t>
            </a:r>
            <a:r>
              <a:rPr lang="en-US" altLang="ko-KR" dirty="0" err="1"/>
              <a:t>microsecondsToCentimeters</a:t>
            </a:r>
            <a:r>
              <a:rPr lang="en-US" altLang="ko-KR" dirty="0"/>
              <a:t>(duration); // </a:t>
            </a:r>
            <a:r>
              <a:rPr lang="ko-KR" altLang="en-US" dirty="0"/>
              <a:t>거리</a:t>
            </a:r>
            <a:r>
              <a:rPr lang="en-US" altLang="ko-KR" dirty="0"/>
              <a:t>(cm)</a:t>
            </a:r>
            <a:r>
              <a:rPr lang="ko-KR" altLang="en-US" dirty="0"/>
              <a:t>로 변환 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Serial.print</a:t>
            </a:r>
            <a:r>
              <a:rPr lang="en-US" altLang="ko-KR" dirty="0"/>
              <a:t>(cm); 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Serial.print</a:t>
            </a:r>
            <a:r>
              <a:rPr lang="en-US" altLang="ko-KR" dirty="0"/>
              <a:t>("cm"); 	</a:t>
            </a:r>
          </a:p>
          <a:p>
            <a:pPr marL="0" indent="0">
              <a:buNone/>
              <a:defRPr/>
            </a:pPr>
            <a:r>
              <a:rPr lang="en-US" altLang="ko-KR" dirty="0" err="1"/>
              <a:t>Serial.println</a:t>
            </a:r>
            <a:r>
              <a:rPr lang="en-US" altLang="ko-KR" dirty="0"/>
              <a:t>(); 	</a:t>
            </a:r>
          </a:p>
          <a:p>
            <a:pPr marL="0" indent="0">
              <a:buNone/>
              <a:defRPr/>
            </a:pPr>
            <a:r>
              <a:rPr lang="en-US" altLang="ko-KR" dirty="0"/>
              <a:t>delay(300); // 0.3</a:t>
            </a:r>
            <a:r>
              <a:rPr lang="ko-KR" altLang="en-US" dirty="0"/>
              <a:t>초 대기 후 다시 측정 	</a:t>
            </a:r>
          </a:p>
          <a:p>
            <a:pPr marL="0" indent="0">
              <a:buNone/>
              <a:defRPr/>
            </a:pPr>
            <a:r>
              <a:rPr lang="en-US" altLang="ko-KR" dirty="0"/>
              <a:t>}</a:t>
            </a:r>
            <a:r>
              <a:rPr lang="ko-KR" altLang="en-US" dirty="0"/>
              <a:t>	</a:t>
            </a:r>
          </a:p>
          <a:p>
            <a:pPr>
              <a:buFont typeface="Arial" charset="0"/>
              <a:buChar char="•"/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858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57326" y="1171276"/>
            <a:ext cx="8147928" cy="585637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</a:t>
            </a:r>
            <a:r>
              <a:rPr lang="en-US" altLang="ko-KR" sz="2200" b="1">
                <a:solidFill>
                  <a:srgbClr val="0000FF"/>
                </a:solidFill>
              </a:rPr>
              <a:t>: </a:t>
            </a:r>
            <a:r>
              <a:rPr lang="ko-KR" altLang="en-US" sz="2200" b="1">
                <a:solidFill>
                  <a:srgbClr val="0000FF"/>
                </a:solidFill>
              </a:rPr>
              <a:t>다이렉트 </a:t>
            </a:r>
            <a:r>
              <a:rPr lang="en-US" altLang="ko-KR" sz="2200" b="1">
                <a:solidFill>
                  <a:srgbClr val="0000FF"/>
                </a:solidFill>
              </a:rPr>
              <a:t>Trig, Echo(</a:t>
            </a:r>
            <a:r>
              <a:rPr lang="ko-KR" altLang="en-US" sz="2200" b="1">
                <a:solidFill>
                  <a:srgbClr val="0000FF"/>
                </a:solidFill>
              </a:rPr>
              <a:t>계속</a:t>
            </a:r>
            <a:r>
              <a:rPr lang="en-US" altLang="ko-KR" sz="2200" b="1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Arial" pitchFamily="34" charset="0"/>
              <a:buNone/>
            </a:pPr>
            <a:endParaRPr lang="en-US" altLang="ko-KR" sz="2200"/>
          </a:p>
        </p:txBody>
      </p:sp>
      <p:sp>
        <p:nvSpPr>
          <p:cNvPr id="72707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991C360F-FBCA-4FEA-98E0-4E55578F64EC}" type="slidenum">
              <a:rPr lang="en-US" altLang="ko-KR" sz="1700" b="1">
                <a:solidFill>
                  <a:srgbClr val="1F497D"/>
                </a:solidFill>
              </a:rPr>
              <a:pPr/>
              <a:t>28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2710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3" tIns="45702" rIns="91403" bIns="45702">
            <a:spAutoFit/>
          </a:bodyPr>
          <a:lstStyle>
            <a:lvl1pPr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defTabSz="85194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1800" b="1">
                <a:solidFill>
                  <a:srgbClr val="D99694"/>
                </a:solidFill>
                <a:latin typeface="Candara" pitchFamily="34" charset="0"/>
                <a:ea typeface="가을체" pitchFamily="18" charset="-127"/>
                <a:cs typeface="Arial" pitchFamily="34" charset="0"/>
              </a:rPr>
              <a:t>Arduino &amp; Internet of Things.</a:t>
            </a:r>
            <a:endParaRPr kumimoji="1" lang="ko-KR" altLang="en-US" sz="1800">
              <a:solidFill>
                <a:srgbClr val="D99694"/>
              </a:solidFill>
              <a:latin typeface="Candara" pitchFamily="34" charset="0"/>
              <a:ea typeface="가을체" pitchFamily="18" charset="-127"/>
              <a:cs typeface="Arial" pitchFamily="34" charset="0"/>
            </a:endParaRPr>
          </a:p>
        </p:txBody>
      </p:sp>
      <p:sp>
        <p:nvSpPr>
          <p:cNvPr id="72711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3.  </a:t>
            </a:r>
            <a:r>
              <a:rPr lang="ko-KR" altLang="en-US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초음파센서 </a:t>
            </a:r>
            <a:r>
              <a:rPr lang="en-US" altLang="ko-KR" sz="26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Ultra Sound</a:t>
            </a:r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739646" y="1780514"/>
            <a:ext cx="8230933" cy="452577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  <a:defRPr/>
            </a:pPr>
            <a:r>
              <a:rPr lang="en-US" altLang="ko-KR" b="1" dirty="0" smtClean="0"/>
              <a:t>long </a:t>
            </a:r>
            <a:r>
              <a:rPr lang="en-US" altLang="ko-KR" b="1" dirty="0" err="1" smtClean="0"/>
              <a:t>microsecondsToInches</a:t>
            </a:r>
            <a:r>
              <a:rPr lang="en-US" altLang="ko-KR" b="1" dirty="0" smtClean="0"/>
              <a:t>(long microseconds) </a:t>
            </a:r>
            <a:r>
              <a:rPr lang="en-US" altLang="ko-KR" dirty="0" smtClean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 smtClean="0"/>
              <a:t>{ </a:t>
            </a:r>
            <a:r>
              <a:rPr lang="ko-KR" altLang="en-US" dirty="0" smtClean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 smtClean="0"/>
              <a:t>// According to Parallax's datasheet for the PING))), there are </a:t>
            </a:r>
            <a:r>
              <a:rPr lang="en-US" altLang="ko-KR" dirty="0" smtClean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 smtClean="0"/>
              <a:t>// 73.746 microseconds per inch (i.e. sound travels at 1130 feet per </a:t>
            </a:r>
            <a:r>
              <a:rPr lang="en-US" altLang="ko-KR" dirty="0" smtClean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 smtClean="0"/>
              <a:t>// second). This gives the distance travelled by the ping, outbound </a:t>
            </a:r>
            <a:r>
              <a:rPr lang="en-US" altLang="ko-KR" dirty="0" smtClean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 smtClean="0"/>
              <a:t>// and return, so we divide by 2 to get the distance of the obstacle. </a:t>
            </a:r>
            <a:r>
              <a:rPr lang="en-US" altLang="ko-KR" dirty="0" smtClean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 smtClean="0"/>
              <a:t>// See: </a:t>
            </a:r>
            <a:r>
              <a:rPr lang="en-US" altLang="ko-KR" b="1" u="sng" dirty="0" smtClean="0"/>
              <a:t>http://www.parallax.com/dl/docs/prod/acc/28015-PING-v1.3.pdf </a:t>
            </a:r>
            <a:r>
              <a:rPr lang="en-US" altLang="ko-KR" dirty="0" smtClean="0"/>
              <a:t>	</a:t>
            </a:r>
          </a:p>
          <a:p>
            <a:pPr marL="0" indent="0">
              <a:buNone/>
              <a:defRPr/>
            </a:pPr>
            <a:endParaRPr lang="ko-KR" altLang="en-US" dirty="0" smtClean="0"/>
          </a:p>
          <a:p>
            <a:pPr marL="0" indent="0">
              <a:buNone/>
              <a:defRPr/>
            </a:pPr>
            <a:r>
              <a:rPr lang="en-US" altLang="ko-KR" b="1" dirty="0" smtClean="0"/>
              <a:t>// </a:t>
            </a:r>
            <a:r>
              <a:rPr lang="ko-KR" altLang="en-US" dirty="0"/>
              <a:t>시간에 대한 값을 인치로 변환</a:t>
            </a:r>
            <a:r>
              <a:rPr lang="en-US" altLang="ko-KR" b="1" dirty="0"/>
              <a:t>. </a:t>
            </a:r>
            <a:r>
              <a:rPr lang="ko-KR" altLang="en-US" dirty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/>
              <a:t>return microseconds / 74 / 2; </a:t>
            </a:r>
            <a:r>
              <a:rPr lang="en-US" altLang="ko-KR" dirty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/>
              <a:t>}</a:t>
            </a:r>
            <a:r>
              <a:rPr lang="ko-KR" altLang="en-US" dirty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/>
              <a:t>long </a:t>
            </a:r>
            <a:r>
              <a:rPr lang="en-US" altLang="ko-KR" b="1" dirty="0" err="1"/>
              <a:t>microsecondsToCentimeters</a:t>
            </a:r>
            <a:r>
              <a:rPr lang="en-US" altLang="ko-KR" b="1" dirty="0"/>
              <a:t>(long microseconds) </a:t>
            </a:r>
            <a:r>
              <a:rPr lang="en-US" altLang="ko-KR" dirty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/>
              <a:t>{ </a:t>
            </a:r>
            <a:r>
              <a:rPr lang="ko-KR" altLang="en-US" dirty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/>
              <a:t>// The speed of sound is 340 m/s or 29 microseconds per centimeter. </a:t>
            </a:r>
            <a:r>
              <a:rPr lang="en-US" altLang="ko-KR" dirty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/>
              <a:t>// The ping travels out and back, so to find the distance of the </a:t>
            </a:r>
            <a:r>
              <a:rPr lang="en-US" altLang="ko-KR" dirty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/>
              <a:t>// object we take half of the distance travelled. </a:t>
            </a:r>
            <a:r>
              <a:rPr lang="en-US" altLang="ko-KR" dirty="0"/>
              <a:t>	</a:t>
            </a:r>
          </a:p>
          <a:p>
            <a:pPr marL="0" indent="0">
              <a:buNone/>
              <a:defRPr/>
            </a:pPr>
            <a:r>
              <a:rPr lang="en-US" altLang="ko-KR" b="1" dirty="0"/>
              <a:t>// </a:t>
            </a:r>
            <a:r>
              <a:rPr lang="ko-KR" altLang="en-US" dirty="0"/>
              <a:t>시간에 대한 값을 센티미터로 변환 	</a:t>
            </a:r>
          </a:p>
          <a:p>
            <a:pPr marL="0" indent="0">
              <a:buNone/>
              <a:defRPr/>
            </a:pPr>
            <a:r>
              <a:rPr lang="en-US" altLang="ko-KR" b="1" dirty="0"/>
              <a:t>return microseconds / 29 / 2; 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en-US" altLang="ko-KR" b="1" dirty="0" smtClean="0"/>
              <a:t>} </a:t>
            </a:r>
            <a:r>
              <a:rPr lang="ko-KR" altLang="en-US" dirty="0"/>
              <a:t>	</a:t>
            </a:r>
          </a:p>
          <a:p>
            <a:pPr>
              <a:buFont typeface="Arial" charset="0"/>
              <a:buChar char="•"/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186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71356" y="1153575"/>
            <a:ext cx="8147928" cy="521910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실습 내용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</a:t>
            </a:r>
            <a:r>
              <a:rPr lang="ko-KR" altLang="en-US" sz="2200"/>
              <a:t>블루투스를 이용한 자동차와 </a:t>
            </a:r>
            <a:r>
              <a:rPr lang="en-US" altLang="ko-KR" sz="2200"/>
              <a:t>PC</a:t>
            </a:r>
            <a:r>
              <a:rPr lang="ko-KR" altLang="en-US" sz="2200"/>
              <a:t>간 통신 실습 시범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실습 부품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</a:t>
            </a:r>
            <a:r>
              <a:rPr lang="ko-KR" altLang="en-US" sz="2200"/>
              <a:t>블루투스 모듈 아두이노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관련 설명</a:t>
            </a:r>
            <a:r>
              <a:rPr lang="en-US" altLang="ko-KR" sz="2200"/>
              <a:t>  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- </a:t>
            </a:r>
            <a:r>
              <a:rPr lang="ko-KR" altLang="en-US" sz="2200"/>
              <a:t>블루투스</a:t>
            </a:r>
            <a:r>
              <a:rPr lang="en-US" altLang="ko-KR" sz="2200"/>
              <a:t>: </a:t>
            </a:r>
            <a:r>
              <a:rPr lang="ko-KR" altLang="en-US" sz="2200"/>
              <a:t>휴대폰</a:t>
            </a:r>
            <a:r>
              <a:rPr lang="en-US" altLang="ko-KR" sz="2200"/>
              <a:t>, </a:t>
            </a:r>
            <a:r>
              <a:rPr lang="ko-KR" altLang="en-US" sz="2200"/>
              <a:t>노트북</a:t>
            </a:r>
            <a:r>
              <a:rPr lang="en-US" altLang="ko-KR" sz="2200"/>
              <a:t>, </a:t>
            </a:r>
            <a:r>
              <a:rPr lang="ko-KR" altLang="en-US" sz="2200"/>
              <a:t>헤드폰</a:t>
            </a:r>
            <a:r>
              <a:rPr lang="en-US" altLang="ko-KR" sz="2200"/>
              <a:t>, </a:t>
            </a:r>
            <a:r>
              <a:rPr lang="ko-KR" altLang="en-US" sz="2200"/>
              <a:t>스피커</a:t>
            </a:r>
            <a:r>
              <a:rPr lang="en-US" altLang="ko-KR" sz="2200"/>
              <a:t>, GPS </a:t>
            </a:r>
            <a:r>
              <a:rPr lang="ko-KR" altLang="en-US" sz="2200"/>
              <a:t>등 연결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- 10</a:t>
            </a:r>
            <a:r>
              <a:rPr lang="ko-KR" altLang="en-US" sz="2200"/>
              <a:t>미터 안팎의 근거리 저전력 무선 연결 필요시 사용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- </a:t>
            </a:r>
            <a:r>
              <a:rPr lang="ko-KR" altLang="en-US" sz="2200"/>
              <a:t>활용 분야</a:t>
            </a:r>
            <a:r>
              <a:rPr lang="en-US" altLang="ko-KR" sz="2200"/>
              <a:t>: </a:t>
            </a:r>
            <a:r>
              <a:rPr lang="ko-KR" altLang="en-US" sz="2200"/>
              <a:t>근거리 통신을 이용한 기기간 통신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</a:t>
            </a:r>
          </a:p>
        </p:txBody>
      </p:sp>
      <p:sp>
        <p:nvSpPr>
          <p:cNvPr id="6041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09703BA-6701-4F24-8A9B-ADD0E1C58A62}" type="slidenum">
              <a:rPr lang="en-US" altLang="ko-KR" sz="1700" b="1">
                <a:solidFill>
                  <a:srgbClr val="1F497D"/>
                </a:solidFill>
              </a:rPr>
              <a:pPr/>
              <a:t>29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20810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62054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60423" name="직사각형 8"/>
          <p:cNvSpPr>
            <a:spLocks noChangeArrowheads="1"/>
          </p:cNvSpPr>
          <p:nvPr/>
        </p:nvSpPr>
        <p:spPr bwMode="auto">
          <a:xfrm>
            <a:off x="201586" y="485329"/>
            <a:ext cx="8740828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4.  </a:t>
            </a:r>
            <a:r>
              <a:rPr lang="ko-KR" altLang="en-US" sz="26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블루투스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Bluetooth</a:t>
            </a:r>
          </a:p>
        </p:txBody>
      </p:sp>
    </p:spTree>
    <p:extLst>
      <p:ext uri="{BB962C8B-B14F-4D97-AF65-F5344CB8AC3E}">
        <p14:creationId xmlns:p14="http://schemas.microsoft.com/office/powerpoint/2010/main" val="149699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0"/>
            <a:ext cx="8147928" cy="521615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관련 설명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/>
              <a:t>  </a:t>
            </a:r>
            <a:r>
              <a:rPr lang="ko-KR" altLang="en-US" sz="2200" b="1" dirty="0" err="1"/>
              <a:t>블루투스</a:t>
            </a:r>
            <a:r>
              <a:rPr lang="en-US" altLang="ko-KR" sz="2200" b="1" dirty="0"/>
              <a:t> </a:t>
            </a:r>
            <a:r>
              <a:rPr lang="ko-KR" altLang="en-US" sz="2200" b="1" dirty="0"/>
              <a:t>작동 원리</a:t>
            </a:r>
            <a:endParaRPr lang="en-US" altLang="ko-KR" sz="2200" b="1" dirty="0"/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/>
              <a:t>  </a:t>
            </a:r>
            <a:r>
              <a:rPr lang="en-US" altLang="ko-KR" sz="1700" dirty="0">
                <a:latin typeface="+mn-ea"/>
              </a:rPr>
              <a:t>- </a:t>
            </a:r>
            <a:r>
              <a:rPr lang="ko-KR" altLang="en-US" sz="1700" dirty="0" err="1">
                <a:latin typeface="+mn-ea"/>
              </a:rPr>
              <a:t>블루투스</a:t>
            </a:r>
            <a:r>
              <a:rPr lang="ko-KR" altLang="en-US" sz="1700" dirty="0">
                <a:latin typeface="+mn-ea"/>
              </a:rPr>
              <a:t> 마스터 모듈에 주변의 </a:t>
            </a:r>
            <a:r>
              <a:rPr lang="ko-KR" altLang="en-US" sz="1700" dirty="0" err="1">
                <a:latin typeface="+mn-ea"/>
              </a:rPr>
              <a:t>슬레이브</a:t>
            </a:r>
            <a:r>
              <a:rPr lang="ko-KR" altLang="en-US" sz="1700" dirty="0">
                <a:latin typeface="+mn-ea"/>
              </a:rPr>
              <a:t> 모듈을 검색하여 </a:t>
            </a:r>
            <a:r>
              <a:rPr lang="ko-KR" altLang="en-US" sz="1700" dirty="0" err="1">
                <a:latin typeface="+mn-ea"/>
              </a:rPr>
              <a:t>페어링</a:t>
            </a:r>
            <a:r>
              <a:rPr lang="ko-KR" altLang="en-US" sz="1700" dirty="0">
                <a:latin typeface="+mn-ea"/>
              </a:rPr>
              <a:t> 접속 요구하는 기능 보유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 err="1">
                <a:latin typeface="+mn-ea"/>
              </a:rPr>
              <a:t>블루투스</a:t>
            </a:r>
            <a:r>
              <a:rPr lang="ko-KR" altLang="en-US" sz="1700" dirty="0">
                <a:latin typeface="+mn-ea"/>
              </a:rPr>
              <a:t> </a:t>
            </a:r>
            <a:r>
              <a:rPr lang="ko-KR" altLang="en-US" sz="1700" dirty="0" err="1">
                <a:latin typeface="+mn-ea"/>
              </a:rPr>
              <a:t>슬레이브</a:t>
            </a:r>
            <a:r>
              <a:rPr lang="ko-KR" altLang="en-US" sz="1700" dirty="0">
                <a:latin typeface="+mn-ea"/>
              </a:rPr>
              <a:t> 모듈은 마스터 모듈에서의 </a:t>
            </a:r>
            <a:r>
              <a:rPr lang="ko-KR" altLang="en-US" sz="1700" dirty="0" err="1">
                <a:latin typeface="+mn-ea"/>
              </a:rPr>
              <a:t>페이링에</a:t>
            </a:r>
            <a:r>
              <a:rPr lang="ko-KR" altLang="en-US" sz="1700" dirty="0">
                <a:latin typeface="+mn-ea"/>
              </a:rPr>
              <a:t> 응답하는 구조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 err="1">
                <a:latin typeface="+mn-ea"/>
              </a:rPr>
              <a:t>블루투스</a:t>
            </a:r>
            <a:r>
              <a:rPr lang="ko-KR" altLang="en-US" sz="1700" dirty="0">
                <a:latin typeface="+mn-ea"/>
              </a:rPr>
              <a:t> </a:t>
            </a:r>
            <a:r>
              <a:rPr lang="en-US" altLang="ko-KR" sz="1700" dirty="0">
                <a:latin typeface="+mn-ea"/>
              </a:rPr>
              <a:t>HC-06 </a:t>
            </a:r>
            <a:r>
              <a:rPr lang="ko-KR" altLang="en-US" sz="1700" dirty="0" err="1">
                <a:latin typeface="+mn-ea"/>
              </a:rPr>
              <a:t>페어링</a:t>
            </a:r>
            <a:r>
              <a:rPr lang="ko-KR" altLang="en-US" sz="1700" dirty="0">
                <a:latin typeface="+mn-ea"/>
              </a:rPr>
              <a:t> 연결 기본 암호는 </a:t>
            </a:r>
            <a:r>
              <a:rPr lang="en-US" altLang="ko-KR" sz="1700" dirty="0">
                <a:latin typeface="+mn-ea"/>
              </a:rPr>
              <a:t>1234 </a:t>
            </a:r>
            <a:r>
              <a:rPr lang="ko-KR" altLang="en-US" sz="1700" dirty="0">
                <a:latin typeface="+mn-ea"/>
              </a:rPr>
              <a:t>또는 </a:t>
            </a:r>
            <a:r>
              <a:rPr lang="en-US" altLang="ko-KR" sz="1700" dirty="0">
                <a:latin typeface="+mn-ea"/>
              </a:rPr>
              <a:t>0000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>
                <a:latin typeface="+mn-ea"/>
              </a:rPr>
              <a:t>추가 정보 필요 시 </a:t>
            </a:r>
            <a:r>
              <a:rPr lang="en-US" altLang="ko-KR" sz="1700" dirty="0">
                <a:latin typeface="+mn-ea"/>
              </a:rPr>
              <a:t>STATE/WAKEUP </a:t>
            </a:r>
            <a:r>
              <a:rPr lang="ko-KR" altLang="en-US" sz="1700" dirty="0">
                <a:latin typeface="+mn-ea"/>
              </a:rPr>
              <a:t>사용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 err="1">
                <a:latin typeface="+mn-ea"/>
              </a:rPr>
              <a:t>아두이노</a:t>
            </a:r>
            <a:r>
              <a:rPr lang="ko-KR" altLang="en-US" sz="1700" dirty="0">
                <a:latin typeface="+mn-ea"/>
              </a:rPr>
              <a:t> </a:t>
            </a:r>
            <a:r>
              <a:rPr lang="ko-KR" altLang="en-US" sz="1700" dirty="0" err="1">
                <a:latin typeface="+mn-ea"/>
              </a:rPr>
              <a:t>우노</a:t>
            </a:r>
            <a:r>
              <a:rPr lang="ko-KR" altLang="en-US" sz="1700" dirty="0">
                <a:latin typeface="+mn-ea"/>
              </a:rPr>
              <a:t> </a:t>
            </a:r>
            <a:r>
              <a:rPr lang="en-US" altLang="ko-KR" sz="1700" dirty="0">
                <a:latin typeface="+mn-ea"/>
              </a:rPr>
              <a:t>R3 </a:t>
            </a:r>
            <a:r>
              <a:rPr lang="ko-KR" altLang="en-US" sz="1700" dirty="0">
                <a:latin typeface="+mn-ea"/>
              </a:rPr>
              <a:t>보드에서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하드웨어 </a:t>
            </a:r>
            <a:r>
              <a:rPr lang="en-US" altLang="ko-KR" sz="1700" dirty="0">
                <a:latin typeface="+mn-ea"/>
              </a:rPr>
              <a:t>UART </a:t>
            </a:r>
            <a:r>
              <a:rPr lang="ko-KR" altLang="en-US" sz="1700" dirty="0">
                <a:latin typeface="+mn-ea"/>
              </a:rPr>
              <a:t>포트 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  RX(D0), TX(D1) </a:t>
            </a:r>
            <a:r>
              <a:rPr lang="ko-KR" altLang="en-US" sz="1700" dirty="0">
                <a:latin typeface="+mn-ea"/>
              </a:rPr>
              <a:t>연결하여 사용 가능하나</a:t>
            </a:r>
            <a:r>
              <a:rPr lang="en-US" altLang="ko-KR" sz="1700" dirty="0">
                <a:latin typeface="+mn-ea"/>
              </a:rPr>
              <a:t>, </a:t>
            </a:r>
            <a:r>
              <a:rPr lang="ko-KR" altLang="en-US" sz="1700" dirty="0">
                <a:latin typeface="+mn-ea"/>
              </a:rPr>
              <a:t>하드웨어 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  </a:t>
            </a:r>
            <a:r>
              <a:rPr lang="ko-KR" altLang="en-US" sz="1700" dirty="0">
                <a:latin typeface="+mn-ea"/>
              </a:rPr>
              <a:t>시리얼 </a:t>
            </a:r>
            <a:r>
              <a:rPr lang="en-US" altLang="ko-KR" sz="1700" dirty="0">
                <a:latin typeface="+mn-ea"/>
              </a:rPr>
              <a:t>1</a:t>
            </a:r>
            <a:r>
              <a:rPr lang="ko-KR" altLang="en-US" sz="1700" dirty="0">
                <a:latin typeface="+mn-ea"/>
              </a:rPr>
              <a:t>번째 포트를 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 err="1">
                <a:latin typeface="+mn-ea"/>
              </a:rPr>
              <a:t>펌웨어</a:t>
            </a:r>
            <a:r>
              <a:rPr lang="ko-KR" altLang="en-US" sz="1700" dirty="0">
                <a:latin typeface="+mn-ea"/>
              </a:rPr>
              <a:t> 업로드에 사용하게 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  </a:t>
            </a:r>
            <a:r>
              <a:rPr lang="ko-KR" altLang="en-US" sz="1700" dirty="0">
                <a:latin typeface="+mn-ea"/>
              </a:rPr>
              <a:t>되어있어 </a:t>
            </a:r>
            <a:r>
              <a:rPr lang="ko-KR" altLang="en-US" sz="1700" dirty="0" err="1">
                <a:latin typeface="+mn-ea"/>
              </a:rPr>
              <a:t>번거러우므로</a:t>
            </a:r>
            <a:r>
              <a:rPr lang="ko-KR" altLang="en-US" sz="1700" dirty="0">
                <a:latin typeface="+mn-ea"/>
              </a:rPr>
              <a:t> 소프트웨어 시리얼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  </a:t>
            </a:r>
            <a:r>
              <a:rPr lang="ko-KR" altLang="en-US" sz="1700" dirty="0">
                <a:latin typeface="+mn-ea"/>
              </a:rPr>
              <a:t>라이브러리를 사용하는 것이 </a:t>
            </a:r>
            <a:r>
              <a:rPr lang="ko-KR" altLang="en-US" sz="1700" dirty="0" err="1">
                <a:latin typeface="+mn-ea"/>
              </a:rPr>
              <a:t>바람직</a:t>
            </a:r>
            <a:r>
              <a:rPr lang="ko-KR" altLang="en-US" sz="1700" dirty="0">
                <a:latin typeface="+mn-ea"/>
              </a:rPr>
              <a:t> </a:t>
            </a:r>
          </a:p>
        </p:txBody>
      </p:sp>
      <p:sp>
        <p:nvSpPr>
          <p:cNvPr id="61443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6D0664C6-B145-412E-8DBE-08701866C871}" type="slidenum">
              <a:rPr lang="en-US" altLang="ko-KR" sz="1700" b="1">
                <a:solidFill>
                  <a:srgbClr val="1F497D"/>
                </a:solidFill>
              </a:rPr>
              <a:pPr/>
              <a:t>30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61447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4.  </a:t>
            </a:r>
            <a:r>
              <a:rPr lang="ko-KR" altLang="en-US" sz="26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블루투스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Bluetooth</a:t>
            </a:r>
          </a:p>
        </p:txBody>
      </p:sp>
      <p:pic>
        <p:nvPicPr>
          <p:cNvPr id="61448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260" y="3696742"/>
            <a:ext cx="2024753" cy="1694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107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0"/>
            <a:ext cx="8147928" cy="521615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작동 방법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/>
              <a:t>  </a:t>
            </a:r>
            <a:r>
              <a:rPr lang="ko-KR" altLang="en-US" sz="2200" b="1" dirty="0" err="1"/>
              <a:t>스마트폰</a:t>
            </a:r>
            <a:r>
              <a:rPr lang="ko-KR" altLang="en-US" sz="2200" b="1" dirty="0"/>
              <a:t> 연동</a:t>
            </a:r>
            <a:endParaRPr lang="en-US" altLang="ko-KR" sz="2200" b="1" dirty="0"/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/>
              <a:t>  </a:t>
            </a:r>
            <a:r>
              <a:rPr lang="en-US" altLang="ko-KR" sz="1700" dirty="0">
                <a:latin typeface="+mn-ea"/>
              </a:rPr>
              <a:t>- </a:t>
            </a:r>
            <a:r>
              <a:rPr lang="ko-KR" altLang="en-US" sz="1700" dirty="0" err="1">
                <a:latin typeface="+mn-ea"/>
              </a:rPr>
              <a:t>스마트폰에서</a:t>
            </a:r>
            <a:r>
              <a:rPr lang="ko-KR" altLang="en-US" sz="1700" dirty="0">
                <a:latin typeface="+mn-ea"/>
              </a:rPr>
              <a:t> </a:t>
            </a:r>
            <a:r>
              <a:rPr lang="ko-KR" altLang="en-US" sz="1700" dirty="0" err="1">
                <a:latin typeface="+mn-ea"/>
              </a:rPr>
              <a:t>구글앱</a:t>
            </a:r>
            <a:r>
              <a:rPr lang="ko-KR" altLang="en-US" sz="1700" dirty="0">
                <a:latin typeface="+mn-ea"/>
              </a:rPr>
              <a:t> 스토어 접속 후 공개프로그램 </a:t>
            </a:r>
            <a:r>
              <a:rPr lang="en-US" altLang="ko-KR" sz="1700" dirty="0" err="1">
                <a:latin typeface="+mn-ea"/>
              </a:rPr>
              <a:t>BlueTerm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설치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en-US" altLang="ko-KR" sz="1700" dirty="0" err="1">
                <a:latin typeface="+mn-ea"/>
              </a:rPr>
              <a:t>BlueTerm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사이트</a:t>
            </a:r>
            <a:r>
              <a:rPr lang="en-US" altLang="ko-KR" sz="1700" dirty="0">
                <a:latin typeface="+mn-ea"/>
              </a:rPr>
              <a:t>: </a:t>
            </a:r>
            <a:r>
              <a:rPr lang="en-US" altLang="ko-KR" sz="1700" dirty="0">
                <a:latin typeface="+mn-ea"/>
                <a:hlinkClick r:id="rId3"/>
              </a:rPr>
              <a:t>https://play.google.com/store/apps/details?id=es.pymasde.blueterm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en-US" altLang="ko-KR" sz="1700" dirty="0" err="1">
                <a:latin typeface="+mn-ea"/>
              </a:rPr>
              <a:t>BlueTerm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 err="1">
                <a:latin typeface="+mn-ea"/>
              </a:rPr>
              <a:t>앱</a:t>
            </a:r>
            <a:r>
              <a:rPr lang="ko-KR" altLang="en-US" sz="1700" dirty="0">
                <a:latin typeface="+mn-ea"/>
              </a:rPr>
              <a:t> 설치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후 </a:t>
            </a:r>
            <a:r>
              <a:rPr lang="ko-KR" altLang="en-US" sz="1700" dirty="0" err="1">
                <a:latin typeface="+mn-ea"/>
              </a:rPr>
              <a:t>블루투스</a:t>
            </a:r>
            <a:r>
              <a:rPr lang="ko-KR" altLang="en-US" sz="1700" dirty="0">
                <a:latin typeface="+mn-ea"/>
              </a:rPr>
              <a:t> 주변기기 검색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en-US" altLang="ko-KR" sz="1700" dirty="0" err="1">
                <a:latin typeface="+mn-ea"/>
              </a:rPr>
              <a:t>BlueTerm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소스코드</a:t>
            </a:r>
            <a:r>
              <a:rPr lang="en-US" altLang="ko-KR" sz="1700" dirty="0">
                <a:latin typeface="+mn-ea"/>
              </a:rPr>
              <a:t>: </a:t>
            </a:r>
            <a:r>
              <a:rPr lang="en-US" altLang="ko-KR" sz="1700" dirty="0">
                <a:latin typeface="+mn-ea"/>
                <a:hlinkClick r:id="rId4"/>
              </a:rPr>
              <a:t>http://pymasde.es/blueterm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 err="1">
                <a:latin typeface="+mn-ea"/>
              </a:rPr>
              <a:t>아두이노</a:t>
            </a:r>
            <a:r>
              <a:rPr lang="ko-KR" altLang="en-US" sz="1700" dirty="0">
                <a:latin typeface="+mn-ea"/>
              </a:rPr>
              <a:t> 보드에 연결된 </a:t>
            </a:r>
            <a:r>
              <a:rPr lang="en-US" altLang="ko-KR" sz="1700" dirty="0">
                <a:latin typeface="+mn-ea"/>
              </a:rPr>
              <a:t>HC-06 </a:t>
            </a:r>
            <a:r>
              <a:rPr lang="ko-KR" altLang="en-US" sz="1700" dirty="0">
                <a:latin typeface="+mn-ea"/>
              </a:rPr>
              <a:t>장치가 검색되면 </a:t>
            </a:r>
            <a:r>
              <a:rPr lang="ko-KR" altLang="en-US" sz="1700" dirty="0" err="1">
                <a:latin typeface="+mn-ea"/>
              </a:rPr>
              <a:t>페이링</a:t>
            </a:r>
            <a:r>
              <a:rPr lang="ko-KR" altLang="en-US" sz="1700" dirty="0">
                <a:latin typeface="+mn-ea"/>
              </a:rPr>
              <a:t> 암호</a:t>
            </a:r>
            <a:r>
              <a:rPr lang="en-US" altLang="ko-KR" sz="1700" dirty="0">
                <a:latin typeface="+mn-ea"/>
              </a:rPr>
              <a:t>(1234)</a:t>
            </a:r>
            <a:r>
              <a:rPr lang="ko-KR" altLang="en-US" sz="1700" dirty="0">
                <a:latin typeface="+mn-ea"/>
              </a:rPr>
              <a:t> 입력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 err="1">
                <a:latin typeface="+mn-ea"/>
              </a:rPr>
              <a:t>블루투스</a:t>
            </a:r>
            <a:r>
              <a:rPr lang="ko-KR" altLang="en-US" sz="1700" dirty="0">
                <a:latin typeface="+mn-ea"/>
              </a:rPr>
              <a:t> 모듈의 </a:t>
            </a:r>
            <a:r>
              <a:rPr lang="en-US" altLang="ko-KR" sz="1700" dirty="0">
                <a:latin typeface="+mn-ea"/>
              </a:rPr>
              <a:t>LED </a:t>
            </a:r>
            <a:r>
              <a:rPr lang="ko-KR" altLang="en-US" sz="1700" dirty="0">
                <a:latin typeface="+mn-ea"/>
              </a:rPr>
              <a:t>깜박일 경우는 연결이 안된 상태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>
                <a:latin typeface="+mn-ea"/>
              </a:rPr>
              <a:t>연결되면 양방향 시리얼 통신 가능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- </a:t>
            </a:r>
            <a:r>
              <a:rPr lang="ko-KR" altLang="en-US" sz="1700" dirty="0" err="1">
                <a:latin typeface="+mn-ea"/>
              </a:rPr>
              <a:t>블루텀에서</a:t>
            </a:r>
            <a:r>
              <a:rPr lang="ko-KR" altLang="en-US" sz="1700" dirty="0">
                <a:latin typeface="+mn-ea"/>
              </a:rPr>
              <a:t> 입력한 문자는 </a:t>
            </a:r>
            <a:r>
              <a:rPr lang="ko-KR" altLang="en-US" sz="1700" dirty="0" err="1">
                <a:latin typeface="+mn-ea"/>
              </a:rPr>
              <a:t>아두이노</a:t>
            </a:r>
            <a:r>
              <a:rPr lang="ko-KR" altLang="en-US" sz="1700" dirty="0">
                <a:latin typeface="+mn-ea"/>
              </a:rPr>
              <a:t> 보드에서 확인 가능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altLang="ko-KR" sz="1700" dirty="0">
                <a:latin typeface="+mn-ea"/>
              </a:rPr>
              <a:t>    </a:t>
            </a:r>
            <a:endParaRPr lang="ko-KR" altLang="en-US" sz="1700" dirty="0">
              <a:latin typeface="+mn-ea"/>
            </a:endParaRPr>
          </a:p>
        </p:txBody>
      </p:sp>
      <p:sp>
        <p:nvSpPr>
          <p:cNvPr id="62467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2403AF73-D455-4497-888D-6F0F59C06D23}" type="slidenum">
              <a:rPr lang="en-US" altLang="ko-KR" sz="1700" b="1">
                <a:solidFill>
                  <a:srgbClr val="1F497D"/>
                </a:solidFill>
              </a:rPr>
              <a:pPr/>
              <a:t>31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62471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4.  </a:t>
            </a:r>
            <a:r>
              <a:rPr lang="ko-KR" altLang="en-US" sz="26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블루투스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Bluetooth</a:t>
            </a:r>
          </a:p>
        </p:txBody>
      </p:sp>
    </p:spTree>
    <p:extLst>
      <p:ext uri="{BB962C8B-B14F-4D97-AF65-F5344CB8AC3E}">
        <p14:creationId xmlns:p14="http://schemas.microsoft.com/office/powerpoint/2010/main" val="124940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0"/>
            <a:ext cx="8147928" cy="521615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작동 방법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/>
              <a:t>  PC </a:t>
            </a:r>
            <a:r>
              <a:rPr lang="ko-KR" altLang="en-US" sz="2200" b="1" dirty="0"/>
              <a:t>연동</a:t>
            </a:r>
            <a:endParaRPr lang="en-US" altLang="ko-KR" sz="2200" b="1" dirty="0"/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/>
              <a:t>  </a:t>
            </a:r>
            <a:r>
              <a:rPr lang="en-US" altLang="ko-KR" sz="1700" dirty="0">
                <a:latin typeface="+mn-ea"/>
              </a:rPr>
              <a:t>- </a:t>
            </a:r>
            <a:r>
              <a:rPr lang="ko-KR" altLang="en-US" sz="1700" dirty="0">
                <a:latin typeface="+mn-ea"/>
              </a:rPr>
              <a:t>사용하는 </a:t>
            </a:r>
            <a:r>
              <a:rPr lang="en-US" altLang="ko-KR" sz="1700" dirty="0">
                <a:latin typeface="+mn-ea"/>
              </a:rPr>
              <a:t>PC </a:t>
            </a:r>
            <a:r>
              <a:rPr lang="ko-KR" altLang="en-US" sz="1700" dirty="0" err="1">
                <a:latin typeface="+mn-ea"/>
              </a:rPr>
              <a:t>블루투스의</a:t>
            </a:r>
            <a:r>
              <a:rPr lang="ko-KR" altLang="en-US" sz="1700" dirty="0">
                <a:latin typeface="+mn-ea"/>
              </a:rPr>
              <a:t> 드라이버를 최신 버전으로 </a:t>
            </a:r>
            <a:r>
              <a:rPr lang="en-US" altLang="ko-KR" sz="1700" dirty="0">
                <a:latin typeface="+mn-ea"/>
              </a:rPr>
              <a:t>update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700" dirty="0">
                <a:latin typeface="+mn-ea"/>
              </a:rPr>
              <a:t>   - </a:t>
            </a:r>
            <a:r>
              <a:rPr lang="ko-KR" altLang="en-US" sz="1700" dirty="0">
                <a:latin typeface="+mn-ea"/>
              </a:rPr>
              <a:t>블루투수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설정 도움말 사이트</a:t>
            </a:r>
            <a:r>
              <a:rPr lang="en-US" altLang="ko-KR" sz="1700" dirty="0">
                <a:latin typeface="+mn-ea"/>
              </a:rPr>
              <a:t>:</a:t>
            </a:r>
          </a:p>
          <a:p>
            <a:pPr marL="400749" lvl="1" indent="0">
              <a:buNone/>
              <a:defRPr/>
            </a:pPr>
            <a:r>
              <a:rPr lang="en-US" altLang="ko-KR" sz="1300" u="sng" dirty="0">
                <a:hlinkClick r:id="rId3"/>
              </a:rPr>
              <a:t> http://windows.microsoft.com/ko-kr/windows7/add-a-bluetooth-enabled-</a:t>
            </a:r>
            <a:endParaRPr lang="en-US" altLang="ko-KR" sz="1300" u="sng" dirty="0"/>
          </a:p>
          <a:p>
            <a:pPr marL="400749" lvl="1" indent="0">
              <a:buNone/>
              <a:defRPr/>
            </a:pPr>
            <a:r>
              <a:rPr lang="en-US" altLang="ko-KR" sz="1300" u="sng" dirty="0"/>
              <a:t>device-to-your-computer</a:t>
            </a:r>
          </a:p>
          <a:p>
            <a:pPr marL="400749" lvl="1" indent="0">
              <a:buNone/>
              <a:defRPr/>
            </a:pPr>
            <a:endParaRPr lang="en-US" altLang="ko-KR" sz="1300" u="sng" dirty="0"/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ko-KR" altLang="en-US" sz="2200" b="1" dirty="0"/>
              <a:t>  </a:t>
            </a:r>
            <a:r>
              <a:rPr lang="ko-KR" altLang="en-US" sz="2200" b="1" dirty="0" err="1"/>
              <a:t>블루투스</a:t>
            </a:r>
            <a:r>
              <a:rPr lang="ko-KR" altLang="en-US" sz="2200" b="1" dirty="0"/>
              <a:t> 시리얼 통신</a:t>
            </a:r>
            <a:r>
              <a:rPr lang="en-US" altLang="ko-KR" sz="2200" b="1" dirty="0"/>
              <a:t>: </a:t>
            </a:r>
            <a:r>
              <a:rPr lang="ko-KR" altLang="en-US" sz="2200" b="1" dirty="0" err="1"/>
              <a:t>아두이노와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SW</a:t>
            </a:r>
            <a:r>
              <a:rPr lang="ko-KR" altLang="en-US" sz="2200" b="1" dirty="0"/>
              <a:t> 시리얼 사용방법</a:t>
            </a:r>
            <a:endParaRPr lang="en-US" altLang="ko-KR" sz="2200" b="1" dirty="0"/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/>
              <a:t>  </a:t>
            </a:r>
            <a:r>
              <a:rPr lang="en-US" altLang="ko-KR" sz="1700" dirty="0">
                <a:latin typeface="+mn-ea"/>
              </a:rPr>
              <a:t>- </a:t>
            </a:r>
            <a:r>
              <a:rPr lang="ko-KR" altLang="en-US" sz="1700" dirty="0" err="1">
                <a:latin typeface="+mn-ea"/>
              </a:rPr>
              <a:t>블루투스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모듈의 </a:t>
            </a:r>
            <a:r>
              <a:rPr lang="en-US" altLang="ko-KR" sz="1700" dirty="0">
                <a:latin typeface="+mn-ea"/>
              </a:rPr>
              <a:t>GND </a:t>
            </a:r>
            <a:r>
              <a:rPr lang="ko-KR" altLang="en-US" sz="1700" dirty="0">
                <a:latin typeface="+mn-ea"/>
              </a:rPr>
              <a:t>와 </a:t>
            </a:r>
            <a:r>
              <a:rPr lang="en-US" altLang="ko-KR" sz="1700" dirty="0">
                <a:latin typeface="+mn-ea"/>
              </a:rPr>
              <a:t>VCC3.3V(5V) </a:t>
            </a:r>
            <a:r>
              <a:rPr lang="ko-KR" altLang="en-US" sz="1700" dirty="0">
                <a:latin typeface="+mn-ea"/>
              </a:rPr>
              <a:t>연결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700" dirty="0">
                <a:latin typeface="+mn-ea"/>
              </a:rPr>
              <a:t>   - </a:t>
            </a:r>
            <a:r>
              <a:rPr lang="ko-KR" altLang="en-US" sz="1700" dirty="0">
                <a:latin typeface="+mn-ea"/>
              </a:rPr>
              <a:t>블루투수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모듈의 </a:t>
            </a:r>
            <a:r>
              <a:rPr lang="en-US" altLang="ko-KR" sz="1700" dirty="0">
                <a:latin typeface="+mn-ea"/>
              </a:rPr>
              <a:t>RX/TX </a:t>
            </a:r>
            <a:r>
              <a:rPr lang="ko-KR" altLang="en-US" sz="1700" dirty="0">
                <a:latin typeface="+mn-ea"/>
              </a:rPr>
              <a:t>와 </a:t>
            </a:r>
            <a:r>
              <a:rPr lang="ko-KR" altLang="en-US" sz="1700" dirty="0" err="1">
                <a:latin typeface="+mn-ea"/>
              </a:rPr>
              <a:t>아두이노</a:t>
            </a:r>
            <a:r>
              <a:rPr lang="ko-KR" altLang="en-US" sz="1700" dirty="0">
                <a:latin typeface="+mn-ea"/>
              </a:rPr>
              <a:t> 보드의 </a:t>
            </a:r>
            <a:r>
              <a:rPr lang="en-US" altLang="ko-KR" sz="1700" dirty="0">
                <a:latin typeface="+mn-ea"/>
              </a:rPr>
              <a:t>D3, D2 </a:t>
            </a:r>
            <a:r>
              <a:rPr lang="ko-KR" altLang="en-US" sz="1700" dirty="0">
                <a:latin typeface="+mn-ea"/>
              </a:rPr>
              <a:t>핀에 연결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700" dirty="0">
                <a:latin typeface="+mn-ea"/>
              </a:rPr>
              <a:t>   - </a:t>
            </a:r>
            <a:r>
              <a:rPr lang="ko-KR" altLang="en-US" sz="1700" dirty="0">
                <a:latin typeface="+mn-ea"/>
              </a:rPr>
              <a:t>스케치에서 아래 예제 코드 업로드 후 시리얼 모니터 창 </a:t>
            </a:r>
            <a:r>
              <a:rPr lang="en-US" altLang="ko-KR" sz="1700" dirty="0">
                <a:latin typeface="+mn-ea"/>
              </a:rPr>
              <a:t>open</a:t>
            </a: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700" dirty="0">
                <a:latin typeface="+mn-ea"/>
              </a:rPr>
              <a:t>   - </a:t>
            </a:r>
            <a:r>
              <a:rPr lang="ko-KR" altLang="en-US" sz="1700" dirty="0">
                <a:latin typeface="+mn-ea"/>
              </a:rPr>
              <a:t>스마트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 err="1">
                <a:latin typeface="+mn-ea"/>
              </a:rPr>
              <a:t>폰에서</a:t>
            </a:r>
            <a:r>
              <a:rPr lang="ko-KR" altLang="en-US" sz="1700" dirty="0">
                <a:latin typeface="+mn-ea"/>
              </a:rPr>
              <a:t> 입력한 그대로 시리얼 모니터 창에 나옴</a:t>
            </a:r>
            <a:endParaRPr lang="en-US" altLang="ko-KR" sz="17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1700" dirty="0">
                <a:latin typeface="+mn-ea"/>
              </a:rPr>
              <a:t>   - </a:t>
            </a:r>
            <a:r>
              <a:rPr lang="ko-KR" altLang="en-US" sz="1700" dirty="0">
                <a:latin typeface="+mn-ea"/>
              </a:rPr>
              <a:t>반대로 시리얼 모니터 창에서 입력을 하면 </a:t>
            </a:r>
            <a:r>
              <a:rPr lang="en-US" altLang="ko-KR" sz="1700" dirty="0" err="1">
                <a:latin typeface="+mn-ea"/>
              </a:rPr>
              <a:t>BlueTerm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화면에 문자가 표시 됨</a:t>
            </a:r>
            <a:endParaRPr lang="en-US" altLang="ko-KR" sz="1700" u="sng" dirty="0"/>
          </a:p>
          <a:p>
            <a:pPr marL="400749" lvl="1" indent="0">
              <a:buNone/>
              <a:defRPr/>
            </a:pPr>
            <a:endParaRPr lang="en-US" altLang="ko-KR" sz="1300" u="sng" dirty="0"/>
          </a:p>
          <a:p>
            <a:pPr marL="400749" lvl="1" indent="0">
              <a:buNone/>
              <a:defRPr/>
            </a:pPr>
            <a:endParaRPr lang="en-US" altLang="ko-KR" sz="1300" u="sng" dirty="0"/>
          </a:p>
          <a:p>
            <a:pPr marL="0" indent="0">
              <a:buNone/>
              <a:defRPr/>
            </a:pPr>
            <a:r>
              <a:rPr lang="en-US" altLang="ko-KR" sz="1700" u="sng" dirty="0"/>
              <a:t> </a:t>
            </a:r>
            <a:r>
              <a:rPr lang="en-US" altLang="ko-KR" sz="1700" dirty="0">
                <a:latin typeface="+mn-ea"/>
              </a:rPr>
              <a:t>    </a:t>
            </a:r>
            <a:endParaRPr lang="ko-KR" altLang="en-US" sz="1700" dirty="0">
              <a:latin typeface="+mn-ea"/>
            </a:endParaRPr>
          </a:p>
        </p:txBody>
      </p:sp>
      <p:sp>
        <p:nvSpPr>
          <p:cNvPr id="6349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91C4CFFB-0B63-4B74-9C6C-A5C8818A8CDF}" type="slidenum">
              <a:rPr lang="en-US" altLang="ko-KR" sz="1700" b="1">
                <a:solidFill>
                  <a:srgbClr val="1F497D"/>
                </a:solidFill>
              </a:rPr>
              <a:pPr/>
              <a:t>32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63495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4.  </a:t>
            </a:r>
            <a:r>
              <a:rPr lang="ko-KR" altLang="en-US" sz="26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블루투스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Bluetooth</a:t>
            </a:r>
          </a:p>
        </p:txBody>
      </p:sp>
    </p:spTree>
    <p:extLst>
      <p:ext uri="{BB962C8B-B14F-4D97-AF65-F5344CB8AC3E}">
        <p14:creationId xmlns:p14="http://schemas.microsoft.com/office/powerpoint/2010/main" val="74762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3"/>
            <a:ext cx="8147928" cy="936723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</a:t>
            </a:r>
            <a:r>
              <a:rPr lang="en-US" altLang="ko-KR" sz="2200" b="1">
                <a:solidFill>
                  <a:srgbClr val="0000FF"/>
                </a:solidFill>
              </a:rPr>
              <a:t>: </a:t>
            </a:r>
          </a:p>
          <a:p>
            <a:pPr eaLnBrk="1" hangingPunct="1">
              <a:buFont typeface="Wingdings 3" pitchFamily="18" charset="2"/>
              <a:buNone/>
            </a:pPr>
            <a:r>
              <a:rPr lang="ko-KR" altLang="en-US" sz="2200" b="1"/>
              <a:t>아두이노와 </a:t>
            </a:r>
            <a:r>
              <a:rPr lang="en-US" altLang="ko-KR" sz="2200" b="1"/>
              <a:t>SW</a:t>
            </a:r>
            <a:r>
              <a:rPr lang="ko-KR" altLang="en-US" sz="2200" b="1"/>
              <a:t> 시리얼 사용 소스 코드</a:t>
            </a:r>
            <a:endParaRPr lang="en-US" altLang="ko-KR" sz="2200" b="1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</a:t>
            </a:r>
            <a:endParaRPr lang="en-US" altLang="ko-KR" sz="1300" u="sng"/>
          </a:p>
        </p:txBody>
      </p:sp>
      <p:sp>
        <p:nvSpPr>
          <p:cNvPr id="6451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317EDEE-1E18-4AF4-A338-24798380766A}" type="slidenum">
              <a:rPr lang="en-US" altLang="ko-KR" sz="1700" b="1">
                <a:solidFill>
                  <a:srgbClr val="1F497D"/>
                </a:solidFill>
              </a:rPr>
              <a:pPr/>
              <a:t>33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64519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4.  </a:t>
            </a:r>
            <a:r>
              <a:rPr lang="ko-KR" altLang="en-US" sz="26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블루투스</a:t>
            </a:r>
            <a:r>
              <a:rPr lang="ko-KR" altLang="en-US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Bluetooth</a:t>
            </a:r>
          </a:p>
        </p:txBody>
      </p:sp>
      <p:sp>
        <p:nvSpPr>
          <p:cNvPr id="64520" name="TextBox 1"/>
          <p:cNvSpPr txBox="1">
            <a:spLocks noChangeArrowheads="1"/>
          </p:cNvSpPr>
          <p:nvPr/>
        </p:nvSpPr>
        <p:spPr bwMode="auto">
          <a:xfrm>
            <a:off x="66702" y="2105048"/>
            <a:ext cx="4034684" cy="314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78" tIns="42589" rIns="85178" bIns="42589">
            <a:spAutoFit/>
          </a:bodyPr>
          <a:lstStyle>
            <a:lvl1pPr marL="342900" indent="-342900" defTabSz="979488"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28625" defTabSz="979488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225550" indent="-244475" defTabSz="979488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716088" indent="-244475" defTabSz="979488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206625" indent="-244475" defTabSz="979488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663825" indent="-244475" defTabSz="979488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3121025" indent="-244475" defTabSz="979488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578225" indent="-244475" defTabSz="979488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4035425" indent="-244475" defTabSz="979488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// </a:t>
            </a:r>
            <a:r>
              <a:rPr lang="ko-KR" altLang="en-US" sz="1100" u="sng">
                <a:solidFill>
                  <a:srgbClr val="000000"/>
                </a:solidFill>
              </a:rPr>
              <a:t>소프트웨어 시리얼을 사용 하도록 합니다</a:t>
            </a:r>
            <a:r>
              <a:rPr lang="en-US" altLang="ko-KR" sz="1100" u="sng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ko-KR" altLang="en-US" sz="1100" u="sng">
                <a:solidFill>
                  <a:srgbClr val="000000"/>
                </a:solidFill>
              </a:rPr>
              <a:t>예제코드</a:t>
            </a:r>
            <a:r>
              <a:rPr lang="en-US" altLang="ko-KR" sz="1100" u="sng">
                <a:solidFill>
                  <a:srgbClr val="000000"/>
                </a:solidFill>
              </a:rPr>
              <a:t>)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/*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ko-KR" altLang="en-US" sz="1100" u="sng">
                <a:solidFill>
                  <a:srgbClr val="000000"/>
                </a:solidFill>
              </a:rPr>
              <a:t>블루투스를 사용하기 위한 준비를 합니다</a:t>
            </a:r>
            <a:r>
              <a:rPr lang="en-US" altLang="ko-KR" sz="1100" u="sng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2</a:t>
            </a:r>
            <a:r>
              <a:rPr lang="ko-KR" altLang="en-US" sz="1100" u="sng">
                <a:solidFill>
                  <a:srgbClr val="000000"/>
                </a:solidFill>
              </a:rPr>
              <a:t>번은 </a:t>
            </a:r>
            <a:r>
              <a:rPr lang="en-US" altLang="ko-KR" sz="1100" u="sng">
                <a:solidFill>
                  <a:srgbClr val="000000"/>
                </a:solidFill>
              </a:rPr>
              <a:t>TXD, 3</a:t>
            </a:r>
            <a:r>
              <a:rPr lang="ko-KR" altLang="en-US" sz="1100" u="sng">
                <a:solidFill>
                  <a:srgbClr val="000000"/>
                </a:solidFill>
              </a:rPr>
              <a:t>번은 </a:t>
            </a:r>
            <a:r>
              <a:rPr lang="en-US" altLang="ko-KR" sz="1100" u="sng">
                <a:solidFill>
                  <a:srgbClr val="000000"/>
                </a:solidFill>
              </a:rPr>
              <a:t>RXD </a:t>
            </a:r>
            <a:r>
              <a:rPr lang="ko-KR" altLang="en-US" sz="1100" u="sng">
                <a:solidFill>
                  <a:srgbClr val="000000"/>
                </a:solidFill>
              </a:rPr>
              <a:t>입니다</a:t>
            </a:r>
            <a:r>
              <a:rPr lang="en-US" altLang="ko-KR" sz="1100" u="sng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ko-KR" altLang="en-US" sz="1100" u="sng">
                <a:solidFill>
                  <a:srgbClr val="000000"/>
                </a:solidFill>
              </a:rPr>
              <a:t>데이터를 주고 받을 핀 번호 입니다</a:t>
            </a:r>
            <a:r>
              <a:rPr lang="en-US" altLang="ko-KR" sz="1100" u="sng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*/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#include &lt;SoftwareSerial.h&gt;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SoftwareSerial bt(2, 3);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void setup()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{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  Serial.begin(9600); // </a:t>
            </a:r>
            <a:r>
              <a:rPr lang="ko-KR" altLang="en-US" sz="1100" u="sng">
                <a:solidFill>
                  <a:srgbClr val="000000"/>
                </a:solidFill>
              </a:rPr>
              <a:t>시리얼 통신 초기화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  bt.begin(9600); // </a:t>
            </a:r>
            <a:r>
              <a:rPr lang="ko-KR" altLang="en-US" sz="1100" u="sng">
                <a:solidFill>
                  <a:srgbClr val="000000"/>
                </a:solidFill>
              </a:rPr>
              <a:t>블루투스를 사용하기 위해 초기화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Serial.println("ready");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64521" name="TextBox 8"/>
          <p:cNvSpPr txBox="1">
            <a:spLocks noChangeArrowheads="1"/>
          </p:cNvSpPr>
          <p:nvPr/>
        </p:nvSpPr>
        <p:spPr bwMode="auto">
          <a:xfrm>
            <a:off x="4016899" y="2125703"/>
            <a:ext cx="4428963" cy="3140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5178" tIns="42589" rIns="85178" bIns="42589">
            <a:spAutoFit/>
          </a:bodyPr>
          <a:lstStyle>
            <a:lvl1pPr marL="342900" indent="-342900" defTabSz="979488"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28625" defTabSz="979488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225550" indent="-244475" defTabSz="979488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716088" indent="-244475" defTabSz="979488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206625" indent="-244475" defTabSz="979488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663825" indent="-244475" defTabSz="979488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3121025" indent="-244475" defTabSz="979488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578225" indent="-244475" defTabSz="979488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4035425" indent="-244475" defTabSz="979488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void loop()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{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if(bt.available()) //</a:t>
            </a:r>
            <a:r>
              <a:rPr lang="ko-KR" altLang="en-US" sz="1100">
                <a:solidFill>
                  <a:srgbClr val="000000"/>
                </a:solidFill>
              </a:rPr>
              <a:t>블루투스를 통해 데이터가 들어오면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{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   Serial.write("PHONE: ");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   Serial.write(bt.read()); //</a:t>
            </a:r>
            <a:r>
              <a:rPr lang="ko-KR" altLang="en-US" sz="1100">
                <a:solidFill>
                  <a:srgbClr val="000000"/>
                </a:solidFill>
              </a:rPr>
              <a:t>시리얼 모니터로 받은 내용 출력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   Serial.println();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}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if(Serial.available()) //</a:t>
            </a:r>
            <a:r>
              <a:rPr lang="ko-KR" altLang="en-US" sz="1100">
                <a:solidFill>
                  <a:srgbClr val="000000"/>
                </a:solidFill>
              </a:rPr>
              <a:t>시리얼 모니터에서 데이터를 보내면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{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   bt.write("PC : ");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   bt.write(Serial.read()); //</a:t>
            </a:r>
            <a:r>
              <a:rPr lang="ko-KR" altLang="en-US" sz="1100">
                <a:solidFill>
                  <a:srgbClr val="000000"/>
                </a:solidFill>
              </a:rPr>
              <a:t>스마트폰으로 받은 데이터 출력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   bt.println();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>
                <a:solidFill>
                  <a:srgbClr val="000000"/>
                </a:solidFill>
              </a:rPr>
              <a:t>  }</a:t>
            </a:r>
          </a:p>
          <a:p>
            <a:pPr lvl="1" eaLnBrk="0" fontAlgn="base" hangingPunct="0">
              <a:spcAft>
                <a:spcPct val="0"/>
              </a:spcAft>
              <a:buFont typeface="Arial" pitchFamily="34" charset="0"/>
              <a:buNone/>
            </a:pPr>
            <a:r>
              <a:rPr lang="en-US" altLang="ko-KR" sz="1100" u="sng">
                <a:solidFill>
                  <a:srgbClr val="0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23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98036" y="1156525"/>
            <a:ext cx="8147928" cy="521910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실습 내용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</a:t>
            </a:r>
            <a:r>
              <a:rPr lang="ko-KR" altLang="en-US" sz="2200"/>
              <a:t>문자열을</a:t>
            </a:r>
            <a:r>
              <a:rPr lang="en-US" altLang="ko-KR" sz="2200"/>
              <a:t> LCD </a:t>
            </a:r>
            <a:r>
              <a:rPr lang="ko-KR" altLang="en-US" sz="2200"/>
              <a:t>모듈로 출력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실습 부품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LCD 12C, I2C </a:t>
            </a:r>
            <a:r>
              <a:rPr lang="ko-KR" altLang="en-US" sz="2200"/>
              <a:t>인터페이스 모듈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관련 설명</a:t>
            </a:r>
            <a:r>
              <a:rPr lang="en-US" altLang="ko-KR" sz="2200"/>
              <a:t> 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- LCD: Liquid Crystal Display(</a:t>
            </a:r>
            <a:r>
              <a:rPr lang="ko-KR" altLang="en-US" sz="2200"/>
              <a:t>액정화면</a:t>
            </a:r>
            <a:r>
              <a:rPr lang="en-US" altLang="ko-KR" sz="2200"/>
              <a:t>)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- I2C : Inter-Intergrated Circuit(</a:t>
            </a:r>
            <a:r>
              <a:rPr lang="ko-KR" altLang="en-US" sz="2200"/>
              <a:t>직렬컴퓨터 버스</a:t>
            </a:r>
            <a:r>
              <a:rPr lang="en-US" altLang="ko-KR" sz="2200"/>
              <a:t>).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</a:t>
            </a:r>
            <a:r>
              <a:rPr lang="ko-KR" altLang="en-US" sz="2200"/>
              <a:t>  필립스에서 개발한 직렬 컴퓨터 버스이며 마더보드</a:t>
            </a:r>
            <a:r>
              <a:rPr lang="en-US" altLang="ko-KR" sz="2200"/>
              <a:t>, </a:t>
            </a:r>
            <a:r>
              <a:rPr lang="ko-KR" altLang="en-US" sz="2200"/>
              <a:t>임베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ko-KR" altLang="en-US" sz="2200"/>
              <a:t>      디드 시스템</a:t>
            </a:r>
            <a:r>
              <a:rPr lang="en-US" altLang="ko-KR" sz="2200"/>
              <a:t>, </a:t>
            </a:r>
            <a:r>
              <a:rPr lang="ko-KR" altLang="en-US" sz="2200"/>
              <a:t>휴대전화등에 저속의 주변 기기를 연결하기</a:t>
            </a:r>
            <a:endParaRPr lang="en-US" altLang="ko-KR" sz="220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/>
              <a:t>     </a:t>
            </a:r>
            <a:r>
              <a:rPr lang="ko-KR" altLang="en-US" sz="2200"/>
              <a:t> 위해 사용</a:t>
            </a:r>
            <a:r>
              <a:rPr lang="en-US" altLang="ko-KR" sz="2200"/>
              <a:t>   </a:t>
            </a:r>
          </a:p>
        </p:txBody>
      </p:sp>
      <p:sp>
        <p:nvSpPr>
          <p:cNvPr id="82947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5C6C66F1-61F0-444F-8B2D-B96783CDEEB4}" type="slidenum">
              <a:rPr lang="en-US" altLang="ko-KR" sz="1700" b="1">
                <a:solidFill>
                  <a:srgbClr val="1F497D"/>
                </a:solidFill>
              </a:rPr>
              <a:pPr/>
              <a:t>34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20810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2950" name="Rectangle 7"/>
          <p:cNvSpPr>
            <a:spLocks noChangeArrowheads="1"/>
          </p:cNvSpPr>
          <p:nvPr/>
        </p:nvSpPr>
        <p:spPr bwMode="auto">
          <a:xfrm>
            <a:off x="3962054" y="150468"/>
            <a:ext cx="5181946" cy="370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3" tIns="45702" rIns="91403" bIns="45702">
            <a:spAutoFit/>
          </a:bodyPr>
          <a:lstStyle>
            <a:lvl1pPr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defTabSz="85194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1800" b="1">
                <a:solidFill>
                  <a:srgbClr val="D99694"/>
                </a:solidFill>
                <a:latin typeface="Candara" pitchFamily="34" charset="0"/>
                <a:ea typeface="가을체" pitchFamily="18" charset="-127"/>
                <a:cs typeface="Arial" pitchFamily="34" charset="0"/>
              </a:rPr>
              <a:t>Arduino &amp; Internet of Things.</a:t>
            </a:r>
            <a:endParaRPr kumimoji="1" lang="ko-KR" altLang="en-US" sz="1800">
              <a:solidFill>
                <a:srgbClr val="D99694"/>
              </a:solidFill>
              <a:latin typeface="Candara" pitchFamily="34" charset="0"/>
              <a:ea typeface="가을체" pitchFamily="18" charset="-127"/>
              <a:cs typeface="Arial" pitchFamily="34" charset="0"/>
            </a:endParaRPr>
          </a:p>
        </p:txBody>
      </p:sp>
      <p:sp>
        <p:nvSpPr>
          <p:cNvPr id="82951" name="직사각형 8"/>
          <p:cNvSpPr>
            <a:spLocks noChangeArrowheads="1"/>
          </p:cNvSpPr>
          <p:nvPr/>
        </p:nvSpPr>
        <p:spPr bwMode="auto">
          <a:xfrm>
            <a:off x="201586" y="485329"/>
            <a:ext cx="8740828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</p:spTree>
    <p:extLst>
      <p:ext uri="{BB962C8B-B14F-4D97-AF65-F5344CB8AC3E}">
        <p14:creationId xmlns:p14="http://schemas.microsoft.com/office/powerpoint/2010/main" val="145034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1"/>
            <a:ext cx="8147928" cy="1404348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LCD 1602 </a:t>
            </a:r>
            <a:r>
              <a:rPr lang="ko-KR" altLang="en-US" sz="2200" b="1" dirty="0">
                <a:solidFill>
                  <a:srgbClr val="0000FF"/>
                </a:solidFill>
              </a:rPr>
              <a:t>모듈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    </a:t>
            </a:r>
            <a:r>
              <a:rPr lang="en-US" altLang="ko-KR" sz="2200" dirty="0">
                <a:latin typeface="+mn-ea"/>
              </a:rPr>
              <a:t>- 16 </a:t>
            </a:r>
            <a:r>
              <a:rPr lang="ko-KR" altLang="en-US" sz="2200" dirty="0">
                <a:latin typeface="+mn-ea"/>
              </a:rPr>
              <a:t>행 </a:t>
            </a:r>
            <a:r>
              <a:rPr lang="en-US" altLang="ko-KR" sz="2200" dirty="0">
                <a:latin typeface="+mn-ea"/>
              </a:rPr>
              <a:t>2</a:t>
            </a:r>
            <a:r>
              <a:rPr lang="ko-KR" altLang="en-US" sz="2200" dirty="0">
                <a:latin typeface="+mn-ea"/>
              </a:rPr>
              <a:t>열의 문자 표시 모듈</a:t>
            </a:r>
            <a:endParaRPr lang="en-US" altLang="ko-KR" sz="22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>
                <a:latin typeface="+mn-ea"/>
              </a:rPr>
              <a:t>    - VCC: 5V </a:t>
            </a:r>
            <a:r>
              <a:rPr lang="ko-KR" altLang="en-US" sz="2200" dirty="0">
                <a:latin typeface="+mn-ea"/>
              </a:rPr>
              <a:t>또는</a:t>
            </a:r>
            <a:r>
              <a:rPr lang="en-US" altLang="ko-KR" sz="2200" dirty="0">
                <a:latin typeface="+mn-ea"/>
              </a:rPr>
              <a:t> 3V3</a:t>
            </a:r>
          </a:p>
        </p:txBody>
      </p:sp>
      <p:sp>
        <p:nvSpPr>
          <p:cNvPr id="8397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7986050-8276-46AD-B620-8563544EF54C}" type="slidenum">
              <a:rPr lang="en-US" altLang="ko-KR" sz="1700" b="1">
                <a:solidFill>
                  <a:srgbClr val="1F497D"/>
                </a:solidFill>
              </a:rPr>
              <a:pPr/>
              <a:t>35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3975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  <p:pic>
        <p:nvPicPr>
          <p:cNvPr id="8397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730" y="3651013"/>
            <a:ext cx="2668050" cy="2655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7" name="Picture 4" descr="LCD Display Character Module LCM 16x2 HD4478Controller Blue Blacklight 1602 V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330" y="1287814"/>
            <a:ext cx="2687319" cy="2674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453568" y="2998992"/>
            <a:ext cx="4992218" cy="1115218"/>
          </a:xfrm>
          <a:prstGeom prst="rect">
            <a:avLst/>
          </a:prstGeom>
        </p:spPr>
        <p:txBody>
          <a:bodyPr lIns="85178" tIns="42589" rIns="85178" bIns="42589">
            <a:spAutoFit/>
          </a:bodyPr>
          <a:lstStyle/>
          <a:p>
            <a:pPr defTabSz="85194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200" b="1" dirty="0">
                <a:solidFill>
                  <a:srgbClr val="0000FF"/>
                </a:solidFill>
              </a:rPr>
              <a:t>▶ LCD 1602 16</a:t>
            </a:r>
            <a:r>
              <a:rPr kumimoji="1" lang="ko-KR" altLang="en-US" sz="2200" b="1" dirty="0">
                <a:solidFill>
                  <a:srgbClr val="0000FF"/>
                </a:solidFill>
              </a:rPr>
              <a:t>핀 </a:t>
            </a:r>
            <a:r>
              <a:rPr kumimoji="1" lang="en-US" altLang="ko-KR" sz="2200" b="1" dirty="0">
                <a:solidFill>
                  <a:srgbClr val="0000FF"/>
                </a:solidFill>
              </a:rPr>
              <a:t>I2C 4</a:t>
            </a:r>
            <a:r>
              <a:rPr kumimoji="1" lang="ko-KR" altLang="en-US" sz="2200" b="1" dirty="0">
                <a:solidFill>
                  <a:srgbClr val="0000FF"/>
                </a:solidFill>
              </a:rPr>
              <a:t>핀     </a:t>
            </a:r>
            <a:endParaRPr kumimoji="1" lang="en-US" altLang="ko-KR" sz="2200" b="1" dirty="0">
              <a:solidFill>
                <a:srgbClr val="0000FF"/>
              </a:solidFill>
            </a:endParaRPr>
          </a:p>
          <a:p>
            <a:pPr defTabSz="85194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200" b="1" dirty="0">
                <a:solidFill>
                  <a:srgbClr val="0000FF"/>
                </a:solidFill>
              </a:rPr>
              <a:t>    </a:t>
            </a:r>
            <a:r>
              <a:rPr kumimoji="1" lang="ko-KR" altLang="en-US" sz="2200" b="1" dirty="0">
                <a:solidFill>
                  <a:srgbClr val="0000FF"/>
                </a:solidFill>
              </a:rPr>
              <a:t>인터페이스 모듈</a:t>
            </a:r>
            <a:endParaRPr kumimoji="1" lang="en-US" altLang="ko-KR" sz="2200" b="1" dirty="0">
              <a:solidFill>
                <a:srgbClr val="0000FF"/>
              </a:solidFill>
            </a:endParaRPr>
          </a:p>
          <a:p>
            <a:pPr defTabSz="85194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200" b="1" dirty="0">
                <a:solidFill>
                  <a:srgbClr val="0000FF"/>
                </a:solidFill>
              </a:rPr>
              <a:t>    </a:t>
            </a:r>
            <a:r>
              <a:rPr kumimoji="1" lang="en-US" altLang="ko-KR" sz="2200" dirty="0">
                <a:solidFill>
                  <a:prstClr val="black"/>
                </a:solidFill>
              </a:rPr>
              <a:t>- LCD </a:t>
            </a:r>
            <a:r>
              <a:rPr kumimoji="1" lang="ko-KR" altLang="en-US" sz="2200" dirty="0">
                <a:solidFill>
                  <a:prstClr val="black"/>
                </a:solidFill>
              </a:rPr>
              <a:t>밝기 조정 가변 저항</a:t>
            </a:r>
            <a:endParaRPr kumimoji="1"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865266" y="3999149"/>
            <a:ext cx="2410138" cy="286180"/>
          </a:xfrm>
          <a:prstGeom prst="rect">
            <a:avLst/>
          </a:prstGeom>
        </p:spPr>
        <p:txBody>
          <a:bodyPr lIns="85178" tIns="42589" rIns="85178" bIns="42589">
            <a:spAutoFit/>
          </a:bodyPr>
          <a:lstStyle/>
          <a:p>
            <a:pPr defTabSz="851946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ea typeface="굴림" pitchFamily="50" charset="-127"/>
              </a:rPr>
              <a:t>LCD </a:t>
            </a:r>
            <a:r>
              <a:rPr kumimoji="1" lang="ko-KR" altLang="en-US" sz="1300" dirty="0">
                <a:solidFill>
                  <a:prstClr val="black"/>
                </a:solidFill>
                <a:ea typeface="굴림" pitchFamily="50" charset="-127"/>
              </a:rPr>
              <a:t>밝기 조정 가변 저항</a:t>
            </a:r>
            <a:endParaRPr kumimoji="1" lang="en-US" altLang="ko-KR" sz="1300" dirty="0">
              <a:solidFill>
                <a:prstClr val="black"/>
              </a:solidFill>
              <a:ea typeface="굴림" pitchFamily="50" charset="-127"/>
            </a:endParaRPr>
          </a:p>
        </p:txBody>
      </p:sp>
      <p:pic>
        <p:nvPicPr>
          <p:cNvPr id="83980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727" y="4403343"/>
            <a:ext cx="2872600" cy="1902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81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3"/>
            <a:ext cx="8147928" cy="66972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아두이노 연결</a:t>
            </a:r>
            <a:endParaRPr lang="en-US" altLang="ko-KR" sz="2200" b="1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endParaRPr lang="en-US" altLang="ko-KR" sz="2200" b="1">
              <a:solidFill>
                <a:srgbClr val="0000FF"/>
              </a:solidFill>
            </a:endParaRPr>
          </a:p>
        </p:txBody>
      </p:sp>
      <p:sp>
        <p:nvSpPr>
          <p:cNvPr id="8499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49BA6A58-5236-4C19-B8F8-85A074D1A67D}" type="slidenum">
              <a:rPr lang="en-US" altLang="ko-KR" sz="1700" b="1">
                <a:solidFill>
                  <a:srgbClr val="1F497D"/>
                </a:solidFill>
              </a:rPr>
              <a:pPr/>
              <a:t>36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4999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1357" y="1756913"/>
            <a:ext cx="5983843" cy="1801165"/>
          </a:xfrm>
          <a:prstGeom prst="rect">
            <a:avLst/>
          </a:prstGeom>
        </p:spPr>
        <p:txBody>
          <a:bodyPr lIns="85178" tIns="42589" rIns="85178" bIns="42589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200" dirty="0">
                <a:solidFill>
                  <a:prstClr val="black"/>
                </a:solidFill>
              </a:rPr>
              <a:t>- </a:t>
            </a:r>
            <a:r>
              <a:rPr kumimoji="1" lang="ko-KR" altLang="en-US" sz="2200" dirty="0" err="1">
                <a:solidFill>
                  <a:prstClr val="black"/>
                </a:solidFill>
              </a:rPr>
              <a:t>아두이노</a:t>
            </a:r>
            <a:r>
              <a:rPr kumimoji="1" lang="ko-KR" altLang="en-US" sz="2200" dirty="0">
                <a:solidFill>
                  <a:prstClr val="black"/>
                </a:solidFill>
              </a:rPr>
              <a:t> </a:t>
            </a:r>
            <a:r>
              <a:rPr kumimoji="1" lang="ko-KR" altLang="en-US" sz="2200" dirty="0" err="1">
                <a:solidFill>
                  <a:prstClr val="black"/>
                </a:solidFill>
              </a:rPr>
              <a:t>우노</a:t>
            </a:r>
            <a:r>
              <a:rPr kumimoji="1" lang="ko-KR" altLang="en-US" sz="2200" dirty="0">
                <a:solidFill>
                  <a:prstClr val="black"/>
                </a:solidFill>
              </a:rPr>
              <a:t> 보드의 </a:t>
            </a:r>
            <a:r>
              <a:rPr kumimoji="1" lang="en-US" altLang="ko-KR" sz="2200" dirty="0">
                <a:solidFill>
                  <a:prstClr val="black"/>
                </a:solidFill>
              </a:rPr>
              <a:t>I2C </a:t>
            </a:r>
            <a:r>
              <a:rPr kumimoji="1" lang="ko-KR" altLang="en-US" sz="2200" dirty="0">
                <a:solidFill>
                  <a:prstClr val="black"/>
                </a:solidFill>
              </a:rPr>
              <a:t>포트에 연결</a:t>
            </a:r>
            <a:r>
              <a:rPr kumimoji="1" lang="en-US" altLang="ko-KR" sz="2200" dirty="0">
                <a:solidFill>
                  <a:prstClr val="black"/>
                </a:solidFill>
              </a:rPr>
              <a:t>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200" dirty="0">
                <a:solidFill>
                  <a:prstClr val="black"/>
                </a:solidFill>
              </a:rPr>
              <a:t>- I2C Address: 0x27 </a:t>
            </a:r>
          </a:p>
          <a:p>
            <a:pPr marL="266179" indent="-266179" defTabSz="851946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kumimoji="1" lang="en-US" altLang="ko-KR" sz="2200" dirty="0">
                <a:solidFill>
                  <a:prstClr val="black"/>
                </a:solidFill>
              </a:rPr>
              <a:t>Pin Definition: VCC</a:t>
            </a:r>
            <a:r>
              <a:rPr kumimoji="1" lang="ko-KR" altLang="en-US" sz="2200" dirty="0">
                <a:solidFill>
                  <a:prstClr val="black"/>
                </a:solidFill>
              </a:rPr>
              <a:t>、</a:t>
            </a:r>
            <a:r>
              <a:rPr kumimoji="1" lang="en-US" altLang="ko-KR" sz="2200" dirty="0">
                <a:solidFill>
                  <a:prstClr val="black"/>
                </a:solidFill>
              </a:rPr>
              <a:t>GND</a:t>
            </a:r>
            <a:r>
              <a:rPr kumimoji="1" lang="ko-KR" altLang="en-US" sz="2200" dirty="0">
                <a:solidFill>
                  <a:prstClr val="black"/>
                </a:solidFill>
              </a:rPr>
              <a:t>、</a:t>
            </a:r>
            <a:r>
              <a:rPr kumimoji="1" lang="en-US" altLang="ko-KR" sz="2200" dirty="0">
                <a:solidFill>
                  <a:prstClr val="black"/>
                </a:solidFill>
              </a:rPr>
              <a:t>SDA</a:t>
            </a:r>
            <a:r>
              <a:rPr kumimoji="1" lang="ko-KR" altLang="en-US" sz="2200" dirty="0">
                <a:solidFill>
                  <a:prstClr val="black"/>
                </a:solidFill>
              </a:rPr>
              <a:t>、</a:t>
            </a:r>
            <a:r>
              <a:rPr kumimoji="1" lang="en-US" altLang="ko-KR" sz="2200" dirty="0">
                <a:solidFill>
                  <a:prstClr val="black"/>
                </a:solidFill>
              </a:rPr>
              <a:t>SCL </a:t>
            </a:r>
          </a:p>
          <a:p>
            <a:pPr marL="266179" indent="-266179" defTabSz="851946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kumimoji="1" lang="en-US" altLang="ko-KR" sz="2200" dirty="0">
                <a:solidFill>
                  <a:prstClr val="black"/>
                </a:solidFill>
              </a:rPr>
              <a:t>I2C </a:t>
            </a:r>
            <a:r>
              <a:rPr kumimoji="1" lang="ko-KR" altLang="en-US" sz="2200" dirty="0">
                <a:solidFill>
                  <a:prstClr val="black"/>
                </a:solidFill>
              </a:rPr>
              <a:t>연결은 </a:t>
            </a:r>
            <a:r>
              <a:rPr kumimoji="1" lang="ko-KR" altLang="en-US" sz="2200" dirty="0" err="1">
                <a:solidFill>
                  <a:prstClr val="black"/>
                </a:solidFill>
              </a:rPr>
              <a:t>아두이노</a:t>
            </a:r>
            <a:r>
              <a:rPr kumimoji="1" lang="ko-KR" altLang="en-US" sz="2200" dirty="0">
                <a:solidFill>
                  <a:prstClr val="black"/>
                </a:solidFill>
              </a:rPr>
              <a:t> 보드의 </a:t>
            </a:r>
            <a:r>
              <a:rPr kumimoji="1" lang="en-US" altLang="ko-KR" sz="2200" dirty="0">
                <a:solidFill>
                  <a:prstClr val="black"/>
                </a:solidFill>
              </a:rPr>
              <a:t>A4, A5</a:t>
            </a:r>
            <a:r>
              <a:rPr kumimoji="1" lang="ko-KR" altLang="en-US" sz="2200" dirty="0">
                <a:solidFill>
                  <a:prstClr val="black"/>
                </a:solidFill>
              </a:rPr>
              <a:t>에 연결</a:t>
            </a:r>
            <a:r>
              <a:rPr kumimoji="1" lang="en-US" altLang="ko-KR" sz="2200" dirty="0">
                <a:solidFill>
                  <a:prstClr val="black"/>
                </a:solidFill>
              </a:rPr>
              <a:t>	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224339" y="3763123"/>
          <a:ext cx="6096494" cy="1722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247"/>
                <a:gridCol w="3048247"/>
              </a:tblGrid>
              <a:tr h="3445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1602 I2C</a:t>
                      </a:r>
                      <a:r>
                        <a:rPr lang="en-US" altLang="ko-KR" sz="1700" baseline="0" dirty="0" smtClean="0"/>
                        <a:t> </a:t>
                      </a:r>
                      <a:r>
                        <a:rPr lang="ko-KR" altLang="en-US" sz="1700" baseline="0" dirty="0" smtClean="0"/>
                        <a:t>모듈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dirty="0" err="1" smtClean="0"/>
                        <a:t>아두이노</a:t>
                      </a:r>
                      <a:r>
                        <a:rPr lang="ko-KR" altLang="en-US" sz="1700" dirty="0" smtClean="0"/>
                        <a:t> </a:t>
                      </a:r>
                      <a:r>
                        <a:rPr lang="ko-KR" altLang="en-US" sz="1700" dirty="0" err="1" smtClean="0"/>
                        <a:t>우노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  <a:tr h="3445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VCC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5V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  <a:tr h="3445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GND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GND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  <a:tr h="3445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SDA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A4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  <a:tr h="3445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SCL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00" dirty="0" smtClean="0"/>
                        <a:t>A5</a:t>
                      </a:r>
                      <a:endParaRPr lang="ko-KR" altLang="en-US" sz="1700" dirty="0"/>
                    </a:p>
                  </a:txBody>
                  <a:tcPr marL="85384" marR="85384" marT="42484" marB="42484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09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57326" y="1171276"/>
            <a:ext cx="8147928" cy="585637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코드</a:t>
            </a:r>
            <a:r>
              <a:rPr lang="en-US" altLang="ko-KR" sz="2200" b="1" dirty="0">
                <a:solidFill>
                  <a:srgbClr val="0000FF"/>
                </a:solidFill>
              </a:rPr>
              <a:t>: </a:t>
            </a:r>
            <a:r>
              <a:rPr lang="ko-KR" altLang="en-US" sz="2200" b="1" dirty="0">
                <a:solidFill>
                  <a:srgbClr val="0000FF"/>
                </a:solidFill>
              </a:rPr>
              <a:t>라이브러리 </a:t>
            </a:r>
            <a:r>
              <a:rPr lang="en-US" altLang="ko-KR" sz="2200" b="1" dirty="0">
                <a:solidFill>
                  <a:srgbClr val="0000FF"/>
                </a:solidFill>
              </a:rPr>
              <a:t>upload</a:t>
            </a:r>
          </a:p>
          <a:p>
            <a:pPr marL="0" indent="0">
              <a:buNone/>
              <a:defRPr/>
            </a:pPr>
            <a:r>
              <a:rPr lang="en-US" altLang="ko-KR" sz="1500" dirty="0"/>
              <a:t> - I2C LCD1602 </a:t>
            </a:r>
            <a:r>
              <a:rPr lang="ko-KR" altLang="en-US" sz="1500" dirty="0"/>
              <a:t>라이브러리 </a:t>
            </a:r>
            <a:r>
              <a:rPr lang="en-US" altLang="ko-KR" sz="1500" dirty="0"/>
              <a:t>&amp; </a:t>
            </a:r>
            <a:r>
              <a:rPr lang="ko-KR" altLang="en-US" sz="1500" dirty="0"/>
              <a:t>예제 코드 첫 번째 </a:t>
            </a:r>
          </a:p>
          <a:p>
            <a:pPr marL="0" indent="0">
              <a:buNone/>
              <a:defRPr/>
            </a:pPr>
            <a:r>
              <a:rPr lang="en-US" altLang="ko-KR" sz="1500" u="sng" dirty="0"/>
              <a:t> http://www.igameplus.com/pds/gpshop/arduino/shield_module/LiquidCrystal_I2Cv1-1.rar </a:t>
            </a:r>
            <a:endParaRPr lang="en-US" altLang="ko-KR" sz="1500" dirty="0"/>
          </a:p>
          <a:p>
            <a:pPr marL="0" indent="0">
              <a:buNone/>
              <a:defRPr/>
            </a:pPr>
            <a:r>
              <a:rPr lang="ko-KR" altLang="en-US" sz="1500" dirty="0"/>
              <a:t> 라이브러리를 다운로드 후 스케치 </a:t>
            </a:r>
            <a:r>
              <a:rPr lang="en-US" altLang="ko-KR" sz="1500" dirty="0" err="1"/>
              <a:t>myLibrary</a:t>
            </a:r>
            <a:r>
              <a:rPr lang="en-US" altLang="ko-KR" sz="1500" dirty="0"/>
              <a:t> </a:t>
            </a:r>
            <a:r>
              <a:rPr lang="ko-KR" altLang="en-US" sz="1500" dirty="0"/>
              <a:t>디렉터리에 적절히 복사</a:t>
            </a:r>
            <a:endParaRPr lang="en-US" altLang="ko-KR" sz="2200" b="1" dirty="0">
              <a:solidFill>
                <a:srgbClr val="0000FF"/>
              </a:solidFill>
            </a:endParaRPr>
          </a:p>
        </p:txBody>
      </p:sp>
      <p:sp>
        <p:nvSpPr>
          <p:cNvPr id="8601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976F324E-5457-4B56-B003-87DB436BED33}" type="slidenum">
              <a:rPr lang="en-US" altLang="ko-KR" sz="1700" b="1">
                <a:solidFill>
                  <a:srgbClr val="1F497D"/>
                </a:solidFill>
              </a:rPr>
              <a:pPr/>
              <a:t>37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6022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3" tIns="45702" rIns="91403" bIns="45702">
            <a:spAutoFit/>
          </a:bodyPr>
          <a:lstStyle>
            <a:lvl1pPr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defTabSz="85194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1800" b="1">
                <a:solidFill>
                  <a:srgbClr val="D99694"/>
                </a:solidFill>
                <a:latin typeface="Candara" pitchFamily="34" charset="0"/>
                <a:ea typeface="가을체" pitchFamily="18" charset="-127"/>
                <a:cs typeface="Arial" pitchFamily="34" charset="0"/>
              </a:rPr>
              <a:t>Arduino &amp; Internet of Things.</a:t>
            </a:r>
            <a:endParaRPr kumimoji="1" lang="ko-KR" altLang="en-US" sz="1800">
              <a:solidFill>
                <a:srgbClr val="D99694"/>
              </a:solidFill>
              <a:latin typeface="Candara" pitchFamily="34" charset="0"/>
              <a:ea typeface="가을체" pitchFamily="18" charset="-127"/>
              <a:cs typeface="Arial" pitchFamily="34" charset="0"/>
            </a:endParaRPr>
          </a:p>
        </p:txBody>
      </p:sp>
      <p:sp>
        <p:nvSpPr>
          <p:cNvPr id="86023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  <p:sp>
        <p:nvSpPr>
          <p:cNvPr id="86024" name="내용 개체 틀 2"/>
          <p:cNvSpPr>
            <a:spLocks noGrp="1"/>
          </p:cNvSpPr>
          <p:nvPr>
            <p:ph idx="1"/>
          </p:nvPr>
        </p:nvSpPr>
        <p:spPr>
          <a:xfrm>
            <a:off x="715930" y="2491539"/>
            <a:ext cx="8230933" cy="452577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500"/>
              <a:t>#include &lt;Wire.h&gt; </a:t>
            </a:r>
          </a:p>
          <a:p>
            <a:pPr marL="0" indent="0">
              <a:buNone/>
            </a:pPr>
            <a:r>
              <a:rPr lang="en-US" altLang="ko-KR" sz="1500"/>
              <a:t>#include &lt;LiquidCrystal_I2C.h&gt; </a:t>
            </a:r>
          </a:p>
          <a:p>
            <a:pPr marL="0" indent="0">
              <a:buNone/>
            </a:pPr>
            <a:r>
              <a:rPr lang="en-US" altLang="ko-KR" sz="1500"/>
              <a:t>// set the LCD address to 0x27 for a 16 chars and 2 line display </a:t>
            </a:r>
          </a:p>
          <a:p>
            <a:pPr marL="0" indent="0">
              <a:buNone/>
            </a:pPr>
            <a:r>
              <a:rPr lang="en-US" altLang="ko-KR" sz="1500"/>
              <a:t>LiquidCrystal_I2C lcd(0x27,16,2); </a:t>
            </a:r>
          </a:p>
          <a:p>
            <a:pPr marL="0" indent="0">
              <a:buNone/>
            </a:pPr>
            <a:r>
              <a:rPr lang="en-US" altLang="ko-KR" sz="1500"/>
              <a:t>void setup() </a:t>
            </a:r>
          </a:p>
          <a:p>
            <a:pPr marL="0" indent="0">
              <a:buNone/>
            </a:pPr>
            <a:r>
              <a:rPr lang="en-US" altLang="ko-KR" sz="1500"/>
              <a:t>{ </a:t>
            </a:r>
          </a:p>
          <a:p>
            <a:pPr marL="0" indent="0">
              <a:buNone/>
            </a:pPr>
            <a:r>
              <a:rPr lang="en-US" altLang="ko-KR" sz="1500"/>
              <a:t>    lcd.init(); // initialize the lcd </a:t>
            </a:r>
          </a:p>
          <a:p>
            <a:pPr marL="0" indent="0">
              <a:buNone/>
            </a:pPr>
            <a:r>
              <a:rPr lang="en-US" altLang="ko-KR" sz="1500"/>
              <a:t>    // Print a message to the LCD. </a:t>
            </a:r>
          </a:p>
          <a:p>
            <a:pPr marL="0" indent="0">
              <a:buNone/>
            </a:pPr>
            <a:r>
              <a:rPr lang="en-US" altLang="ko-KR" sz="1500"/>
              <a:t>    lcd.backlight(); </a:t>
            </a:r>
          </a:p>
          <a:p>
            <a:pPr marL="0" indent="0">
              <a:buNone/>
            </a:pPr>
            <a:r>
              <a:rPr lang="en-US" altLang="ko-KR" sz="1500"/>
              <a:t>    lcd.print("Hello, world!"); </a:t>
            </a:r>
          </a:p>
          <a:p>
            <a:pPr marL="0" indent="0">
              <a:buNone/>
            </a:pPr>
            <a:r>
              <a:rPr lang="en-US" altLang="ko-KR" sz="1500"/>
              <a:t>} </a:t>
            </a:r>
          </a:p>
          <a:p>
            <a:pPr marL="0" indent="0">
              <a:buNone/>
            </a:pPr>
            <a:r>
              <a:rPr lang="en-US" altLang="ko-KR" sz="1500"/>
              <a:t>void loop() </a:t>
            </a:r>
          </a:p>
          <a:p>
            <a:pPr marL="0" indent="0">
              <a:buNone/>
            </a:pPr>
            <a:r>
              <a:rPr lang="en-US" altLang="ko-KR" sz="1500"/>
              <a:t>{ </a:t>
            </a:r>
          </a:p>
          <a:p>
            <a:pPr marL="0" indent="0">
              <a:buNone/>
            </a:pPr>
            <a:r>
              <a:rPr lang="en-US" altLang="ko-KR" sz="1500"/>
              <a:t>} 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66798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32"/>
            <a:ext cx="8147927" cy="736103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코드</a:t>
            </a:r>
            <a:r>
              <a:rPr lang="en-US" altLang="ko-KR" sz="2200" b="1" dirty="0">
                <a:solidFill>
                  <a:srgbClr val="0000FF"/>
                </a:solidFill>
              </a:rPr>
              <a:t>: </a:t>
            </a:r>
            <a:r>
              <a:rPr lang="ko-KR" altLang="en-US" sz="2200" b="1" dirty="0">
                <a:solidFill>
                  <a:srgbClr val="0000FF"/>
                </a:solidFill>
              </a:rPr>
              <a:t>시리얼로 입력 받은 문자열을 </a:t>
            </a:r>
            <a:r>
              <a:rPr lang="en-US" altLang="ko-KR" sz="2200" b="1" dirty="0">
                <a:solidFill>
                  <a:srgbClr val="0000FF"/>
                </a:solidFill>
              </a:rPr>
              <a:t>LCD</a:t>
            </a:r>
            <a:r>
              <a:rPr lang="ko-KR" altLang="en-US" sz="2200" b="1" dirty="0">
                <a:solidFill>
                  <a:srgbClr val="0000FF"/>
                </a:solidFill>
              </a:rPr>
              <a:t>로 출력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500" dirty="0"/>
              <a:t> </a:t>
            </a:r>
            <a:endParaRPr lang="en-US" altLang="ko-KR" sz="2200" b="1" dirty="0">
              <a:solidFill>
                <a:srgbClr val="0000FF"/>
              </a:solidFill>
            </a:endParaRPr>
          </a:p>
        </p:txBody>
      </p:sp>
      <p:sp>
        <p:nvSpPr>
          <p:cNvPr id="87043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10AA03C-5E2D-4B36-A64A-1D19AAB4F796}" type="slidenum">
              <a:rPr lang="en-US" altLang="ko-KR" sz="1700" b="1">
                <a:solidFill>
                  <a:srgbClr val="1F497D"/>
                </a:solidFill>
              </a:rPr>
              <a:pPr/>
              <a:t>38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7047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99521" y="2158156"/>
            <a:ext cx="4068775" cy="28883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#include &lt;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Wire.h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&gt;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#include &lt;LiquidCrystal_I2C.h&gt;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LiquidCrystal_I2C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(0x27,16,2); // set the LCD address to 0x27 for a 16 chars and 2 line display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setup()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lcd.init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(); // initialize the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lcd.backlight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Serial.begin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(9600);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loop()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// when characters arrive over the serial port... 	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959610" y="2158156"/>
            <a:ext cx="3966501" cy="25446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if (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Serial.available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// wait a bit for the entire message to arrive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delay(100);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// clear the screen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lcd.clear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// read all the available characters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while (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Serial.available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 &gt; 0)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// display each character to the LCD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lcd.write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Serial.read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	</a:t>
            </a:r>
          </a:p>
        </p:txBody>
      </p:sp>
      <p:sp>
        <p:nvSpPr>
          <p:cNvPr id="87050" name="TextBox 1"/>
          <p:cNvSpPr txBox="1">
            <a:spLocks noChangeArrowheads="1"/>
          </p:cNvSpPr>
          <p:nvPr/>
        </p:nvSpPr>
        <p:spPr bwMode="auto">
          <a:xfrm>
            <a:off x="945678" y="5465455"/>
            <a:ext cx="6854939" cy="363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5178" tIns="42589" rIns="85178" bIns="42589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업로드 후 스케치 </a:t>
            </a:r>
            <a:r>
              <a:rPr kumimoji="1" lang="en-US" altLang="ko-KR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IDE</a:t>
            </a:r>
            <a:r>
              <a:rPr kumimoji="1" lang="ko-KR" altLang="en-US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의 시리얼 모니터 창 열고 임의의 숫자 입력</a:t>
            </a:r>
          </a:p>
        </p:txBody>
      </p:sp>
    </p:spTree>
    <p:extLst>
      <p:ext uri="{BB962C8B-B14F-4D97-AF65-F5344CB8AC3E}">
        <p14:creationId xmlns:p14="http://schemas.microsoft.com/office/powerpoint/2010/main" val="3731119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29"/>
            <a:ext cx="8147927" cy="1137346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코드</a:t>
            </a:r>
            <a:r>
              <a:rPr lang="en-US" altLang="ko-KR" sz="2200" b="1" dirty="0">
                <a:solidFill>
                  <a:srgbClr val="0000FF"/>
                </a:solidFill>
              </a:rPr>
              <a:t>: </a:t>
            </a:r>
            <a:r>
              <a:rPr lang="ko-KR" altLang="en-US" sz="2200" b="1" dirty="0">
                <a:solidFill>
                  <a:srgbClr val="0000FF"/>
                </a:solidFill>
              </a:rPr>
              <a:t>시리얼로 입력 받은 문자열을 </a:t>
            </a:r>
            <a:r>
              <a:rPr lang="en-US" altLang="ko-KR" sz="2200" b="1" dirty="0">
                <a:solidFill>
                  <a:srgbClr val="0000FF"/>
                </a:solidFill>
              </a:rPr>
              <a:t>LCD</a:t>
            </a:r>
            <a:r>
              <a:rPr lang="ko-KR" altLang="en-US" sz="2200" b="1" dirty="0">
                <a:solidFill>
                  <a:srgbClr val="0000FF"/>
                </a:solidFill>
              </a:rPr>
              <a:t>로 출력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500" dirty="0"/>
              <a:t>   - </a:t>
            </a:r>
            <a:r>
              <a:rPr lang="ko-KR" altLang="en-US" sz="1500" dirty="0"/>
              <a:t>위 코드 적용 시 깨진 문자 처럼 나옴</a:t>
            </a:r>
            <a:r>
              <a:rPr lang="en-US" altLang="ko-KR" sz="1500" dirty="0"/>
              <a:t>(</a:t>
            </a:r>
            <a:r>
              <a:rPr lang="en-US" altLang="ko-KR" sz="1500" dirty="0" err="1"/>
              <a:t>lcd.write</a:t>
            </a:r>
            <a:r>
              <a:rPr lang="en-US" altLang="ko-KR" sz="1500" dirty="0"/>
              <a:t> </a:t>
            </a:r>
            <a:r>
              <a:rPr lang="ko-KR" altLang="en-US" sz="1500" dirty="0"/>
              <a:t>함수</a:t>
            </a:r>
            <a:r>
              <a:rPr lang="en-US" altLang="ko-KR" sz="1500" dirty="0"/>
              <a:t>)</a:t>
            </a:r>
          </a:p>
          <a:p>
            <a:pPr marL="0" indent="0">
              <a:buNone/>
              <a:defRPr/>
            </a:pPr>
            <a:r>
              <a:rPr lang="en-US" altLang="ko-KR" sz="1500" dirty="0"/>
              <a:t>   - </a:t>
            </a:r>
            <a:r>
              <a:rPr lang="ko-KR" altLang="en-US" sz="1500" dirty="0"/>
              <a:t>시리얼로 받은 </a:t>
            </a:r>
            <a:r>
              <a:rPr lang="en-US" altLang="ko-KR" sz="1500" dirty="0"/>
              <a:t>BYTE </a:t>
            </a:r>
            <a:r>
              <a:rPr lang="ko-KR" altLang="en-US" sz="1500" dirty="0"/>
              <a:t>값 프린트 가능하게 변환해 주는 부분 추가</a:t>
            </a:r>
            <a:endParaRPr lang="en-US" altLang="ko-KR" sz="1500" dirty="0"/>
          </a:p>
          <a:p>
            <a:pPr marL="0" indent="0">
              <a:buNone/>
              <a:defRPr/>
            </a:pPr>
            <a:endParaRPr lang="en-US" altLang="ko-KR" sz="2200" b="1" dirty="0">
              <a:solidFill>
                <a:srgbClr val="0000FF"/>
              </a:solidFill>
            </a:endParaRPr>
          </a:p>
        </p:txBody>
      </p:sp>
      <p:sp>
        <p:nvSpPr>
          <p:cNvPr id="88067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A4CBA92-8A60-4454-993B-EDA72D3EBF84}" type="slidenum">
              <a:rPr lang="en-US" altLang="ko-KR" sz="1700" b="1">
                <a:solidFill>
                  <a:srgbClr val="1F497D"/>
                </a:solidFill>
              </a:rPr>
              <a:pPr/>
              <a:t>39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8071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99521" y="2358777"/>
            <a:ext cx="4068775" cy="36038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#include &lt;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Wire.h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&gt;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#include &lt;LiquidCrystal_I2C.h&gt;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LiquidCrystal_I2C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(0x27,16,2); // set the LCD address to 0x27 for a 16 chars and 2 line display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setup()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lcd.init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(); // initialize the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lcd.backlight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Serial.begin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(9600);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loop()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// when characters arrive over the serial port...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if (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Serial.available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 // wait a bit for the entire message to arrive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 delay(100);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 // clear the screen 	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944785" y="2358777"/>
            <a:ext cx="3966501" cy="28867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lcd.clear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String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szTemp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// read all the available characters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while (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Serial.available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 &gt; 0)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// display each character to the LCD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char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cRead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=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Serial.read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szTemp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+=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cRead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if(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szTemp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 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lcd.print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</a:t>
            </a:r>
            <a:r>
              <a:rPr kumimoji="1" lang="en-US" altLang="ko-KR" sz="13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szTemp</a:t>
            </a: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	</a:t>
            </a:r>
          </a:p>
        </p:txBody>
      </p:sp>
    </p:spTree>
    <p:extLst>
      <p:ext uri="{BB962C8B-B14F-4D97-AF65-F5344CB8AC3E}">
        <p14:creationId xmlns:p14="http://schemas.microsoft.com/office/powerpoint/2010/main" val="236912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31"/>
            <a:ext cx="8147927" cy="1337967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 err="1">
                <a:solidFill>
                  <a:srgbClr val="0000FF"/>
                </a:solidFill>
              </a:rPr>
              <a:t>아두이노와</a:t>
            </a:r>
            <a:r>
              <a:rPr lang="ko-KR" altLang="en-US" sz="2200" b="1" dirty="0">
                <a:solidFill>
                  <a:srgbClr val="0000FF"/>
                </a:solidFill>
              </a:rPr>
              <a:t> </a:t>
            </a:r>
            <a:r>
              <a:rPr lang="ko-KR" altLang="en-US" sz="2200" b="1" dirty="0" err="1">
                <a:solidFill>
                  <a:srgbClr val="0000FF"/>
                </a:solidFill>
              </a:rPr>
              <a:t>다이렉트</a:t>
            </a:r>
            <a:r>
              <a:rPr lang="ko-KR" altLang="en-US" sz="2200" b="1" dirty="0">
                <a:solidFill>
                  <a:srgbClr val="0000FF"/>
                </a:solidFill>
              </a:rPr>
              <a:t> 연결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   </a:t>
            </a:r>
            <a:r>
              <a:rPr lang="en-US" altLang="ko-KR" sz="2200" dirty="0">
                <a:latin typeface="+mn-ea"/>
              </a:rPr>
              <a:t>- I2C </a:t>
            </a:r>
            <a:r>
              <a:rPr lang="ko-KR" altLang="en-US" sz="2200" dirty="0">
                <a:latin typeface="+mn-ea"/>
              </a:rPr>
              <a:t>변환 모듈 보드 거치지 않고 직접 연결</a:t>
            </a:r>
            <a:endParaRPr lang="en-US" altLang="ko-KR" sz="2200" dirty="0">
              <a:latin typeface="+mn-ea"/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dirty="0">
                <a:latin typeface="+mn-ea"/>
              </a:rPr>
              <a:t>   - </a:t>
            </a:r>
            <a:r>
              <a:rPr lang="ko-KR" altLang="en-US" sz="2200" dirty="0" err="1">
                <a:latin typeface="+mn-ea"/>
              </a:rPr>
              <a:t>핀수가</a:t>
            </a:r>
            <a:r>
              <a:rPr lang="ko-KR" altLang="en-US" sz="2200" dirty="0">
                <a:latin typeface="+mn-ea"/>
              </a:rPr>
              <a:t> 많아 지지만 </a:t>
            </a:r>
            <a:r>
              <a:rPr lang="ko-KR" altLang="en-US" sz="2200" dirty="0" err="1">
                <a:latin typeface="+mn-ea"/>
              </a:rPr>
              <a:t>다른용도로</a:t>
            </a:r>
            <a:r>
              <a:rPr lang="ko-KR" altLang="en-US" sz="2200" dirty="0">
                <a:latin typeface="+mn-ea"/>
              </a:rPr>
              <a:t> 사용이 용이</a:t>
            </a:r>
            <a:endParaRPr lang="en-US" altLang="ko-KR" sz="2200" dirty="0">
              <a:latin typeface="+mn-ea"/>
            </a:endParaRPr>
          </a:p>
        </p:txBody>
      </p:sp>
      <p:sp>
        <p:nvSpPr>
          <p:cNvPr id="8909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054E1AD-6779-4DF0-8DF7-57BB3EE36899}" type="slidenum">
              <a:rPr lang="en-US" altLang="ko-KR" sz="1700" b="1">
                <a:solidFill>
                  <a:srgbClr val="1F497D"/>
                </a:solidFill>
              </a:rPr>
              <a:pPr/>
              <a:t>40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9095" name="직사각형 8"/>
          <p:cNvSpPr>
            <a:spLocks noChangeArrowheads="1"/>
          </p:cNvSpPr>
          <p:nvPr/>
        </p:nvSpPr>
        <p:spPr bwMode="auto">
          <a:xfrm>
            <a:off x="336471" y="551711"/>
            <a:ext cx="8336173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  <p:pic>
        <p:nvPicPr>
          <p:cNvPr id="8909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200" y="2777721"/>
            <a:ext cx="4259986" cy="2857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747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30"/>
            <a:ext cx="8147927" cy="535482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 err="1">
                <a:solidFill>
                  <a:srgbClr val="0000FF"/>
                </a:solidFill>
              </a:rPr>
              <a:t>아두이노와</a:t>
            </a:r>
            <a:r>
              <a:rPr lang="ko-KR" altLang="en-US" sz="2200" b="1" dirty="0">
                <a:solidFill>
                  <a:srgbClr val="0000FF"/>
                </a:solidFill>
              </a:rPr>
              <a:t> </a:t>
            </a:r>
            <a:r>
              <a:rPr lang="ko-KR" altLang="en-US" sz="2200" b="1" dirty="0" err="1">
                <a:solidFill>
                  <a:srgbClr val="0000FF"/>
                </a:solidFill>
              </a:rPr>
              <a:t>다이렉트</a:t>
            </a:r>
            <a:r>
              <a:rPr lang="ko-KR" altLang="en-US" sz="2200" b="1" dirty="0">
                <a:solidFill>
                  <a:srgbClr val="0000FF"/>
                </a:solidFill>
              </a:rPr>
              <a:t> 연결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   </a:t>
            </a:r>
            <a:endParaRPr lang="en-US" altLang="ko-KR" sz="2200" dirty="0">
              <a:latin typeface="+mn-ea"/>
            </a:endParaRPr>
          </a:p>
        </p:txBody>
      </p:sp>
      <p:sp>
        <p:nvSpPr>
          <p:cNvPr id="90115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B75B494F-0E61-4E28-99F1-43E65BF6D1AC}" type="slidenum">
              <a:rPr lang="en-US" altLang="ko-KR" sz="1700" b="1">
                <a:solidFill>
                  <a:srgbClr val="1F497D"/>
                </a:solidFill>
              </a:rPr>
              <a:pPr/>
              <a:t>41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90119" name="직사각형 8"/>
          <p:cNvSpPr>
            <a:spLocks noChangeArrowheads="1"/>
          </p:cNvSpPr>
          <p:nvPr/>
        </p:nvSpPr>
        <p:spPr bwMode="auto">
          <a:xfrm>
            <a:off x="336471" y="551711"/>
            <a:ext cx="8336173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  <p:pic>
        <p:nvPicPr>
          <p:cNvPr id="901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998" y="1689057"/>
            <a:ext cx="4274809" cy="4215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85809" y="2491541"/>
            <a:ext cx="3115133" cy="363009"/>
          </a:xfrm>
          <a:prstGeom prst="rect">
            <a:avLst/>
          </a:prstGeom>
          <a:noFill/>
        </p:spPr>
        <p:txBody>
          <a:bodyPr wrap="none" lIns="85178" tIns="42589" rIns="85178" bIns="42589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>
                <a:solidFill>
                  <a:prstClr val="black"/>
                </a:solidFill>
              </a:rPr>
              <a:t>10K </a:t>
            </a:r>
            <a:r>
              <a:rPr kumimoji="1" lang="ko-KR" altLang="en-US" dirty="0">
                <a:solidFill>
                  <a:prstClr val="black"/>
                </a:solidFill>
              </a:rPr>
              <a:t>가변저항으로 밝기 조절</a:t>
            </a:r>
          </a:p>
        </p:txBody>
      </p:sp>
    </p:spTree>
    <p:extLst>
      <p:ext uri="{BB962C8B-B14F-4D97-AF65-F5344CB8AC3E}">
        <p14:creationId xmlns:p14="http://schemas.microsoft.com/office/powerpoint/2010/main" val="422611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538060" y="1221431"/>
            <a:ext cx="8147927" cy="46762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>
                <a:solidFill>
                  <a:srgbClr val="0000FF"/>
                </a:solidFill>
              </a:rPr>
              <a:t>▶ </a:t>
            </a:r>
            <a:r>
              <a:rPr lang="ko-KR" altLang="en-US" sz="2200" b="1">
                <a:solidFill>
                  <a:srgbClr val="0000FF"/>
                </a:solidFill>
              </a:rPr>
              <a:t>코드</a:t>
            </a:r>
            <a:r>
              <a:rPr lang="en-US" altLang="ko-KR" sz="2200" b="1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91139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59499AA-CF42-43EA-B32C-C8080C4D432B}" type="slidenum">
              <a:rPr lang="en-US" altLang="ko-KR" sz="1700" b="1">
                <a:solidFill>
                  <a:srgbClr val="1F497D"/>
                </a:solidFill>
              </a:rPr>
              <a:pPr/>
              <a:t>42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85717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216848"/>
            <a:ext cx="5181946" cy="370264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91143" name="직사각형 8"/>
          <p:cNvSpPr>
            <a:spLocks noChangeArrowheads="1"/>
          </p:cNvSpPr>
          <p:nvPr/>
        </p:nvSpPr>
        <p:spPr bwMode="auto">
          <a:xfrm>
            <a:off x="269770" y="551711"/>
            <a:ext cx="8402875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5.  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LCD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07932" y="1622672"/>
            <a:ext cx="6656785" cy="45464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85169" tIns="42585" rIns="85169" bIns="42585">
            <a:spAutoFit/>
          </a:bodyPr>
          <a:lstStyle/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#include &lt;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LiquidCrystal.h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&gt;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Connections: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RS (LCD pin 4) to Arduino pin 12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RW (LCD pin 5) to Arduino pin 11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Enable (LCD pin 6) to Arduino pin 10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LCD pin 15 to Arduino pin 13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LCD pins d0,d1,d2,d3 </a:t>
            </a:r>
            <a:r>
              <a:rPr kumimoji="1" lang="ko-KR" altLang="en-US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사용 안 함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.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LCD pins d4, d5, d6, d7 to Arduino pins 5, 4, 3, 2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// </a:t>
            </a:r>
            <a:r>
              <a:rPr kumimoji="1" lang="ko-KR" altLang="en-US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아두이노</a:t>
            </a:r>
            <a:r>
              <a:rPr kumimoji="1" lang="ko-KR" altLang="en-US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13</a:t>
            </a:r>
            <a:r>
              <a:rPr kumimoji="1" lang="ko-KR" altLang="en-US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번 핀에 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10 K </a:t>
            </a:r>
            <a:r>
              <a:rPr kumimoji="1" lang="ko-KR" altLang="en-US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가변 저항을 연결합니다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.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const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int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BACK_LIGHT = 13; // Pin 13 will control the backlight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LiquidCrystal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g_lcd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(12, 11, 10, 5, 4, 3, 2);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setup()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{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pinMode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(BACK_LIGHT, OUTPUT);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digitalWrite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(BACK_LIGHT, HIGH); // Turn backlight on.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      // Replace 'HIGH' with 'LOW' to turn it off.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g_lcd.clear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(); // Start with a blank screen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g_lcd.setCursor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(0, 0); // Set the cursor to the beginning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g_lcd.print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("Hello,");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g_lcd.setCursor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(0, 1); // Set the cursor to the next row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    </a:t>
            </a:r>
            <a:r>
              <a:rPr kumimoji="1" lang="en-US" altLang="ko-KR" sz="1100" dirty="0" err="1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g_lcd.print</a:t>
            </a: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("Have a nice day");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void loop() 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{ 	</a:t>
            </a:r>
          </a:p>
          <a:p>
            <a:pPr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105838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98036" y="1156525"/>
            <a:ext cx="8147928" cy="5219101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실습 내용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 </a:t>
            </a:r>
            <a:r>
              <a:rPr lang="en-US" altLang="ko-KR" sz="2200" dirty="0" smtClean="0"/>
              <a:t>GPS </a:t>
            </a:r>
            <a:r>
              <a:rPr lang="ko-KR" altLang="en-US" sz="2200" dirty="0" smtClean="0"/>
              <a:t>센서 이용한 위치 측정 시범</a:t>
            </a:r>
            <a:endParaRPr lang="en-US" altLang="ko-KR" sz="2200" dirty="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실습 부품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 </a:t>
            </a:r>
            <a:r>
              <a:rPr lang="en-US" altLang="ko-KR" sz="2200" dirty="0" smtClean="0"/>
              <a:t>GPS </a:t>
            </a:r>
            <a:r>
              <a:rPr lang="ko-KR" altLang="en-US" sz="2200" dirty="0" smtClean="0"/>
              <a:t>모듈</a:t>
            </a:r>
            <a:r>
              <a:rPr lang="en-US" altLang="ko-KR" sz="2200" dirty="0" smtClean="0"/>
              <a:t> </a:t>
            </a:r>
            <a:r>
              <a:rPr lang="ko-KR" altLang="en-US" sz="2200" dirty="0" smtClean="0"/>
              <a:t>키트</a:t>
            </a:r>
            <a:endParaRPr lang="en-US" altLang="ko-KR" sz="2200" dirty="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ko-KR" altLang="en-US" sz="2200" b="1" dirty="0">
                <a:solidFill>
                  <a:srgbClr val="0000FF"/>
                </a:solidFill>
              </a:rPr>
              <a:t>관련 설명</a:t>
            </a:r>
            <a:r>
              <a:rPr lang="en-US" altLang="ko-KR" sz="2200" dirty="0"/>
              <a:t> 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   - </a:t>
            </a:r>
            <a:r>
              <a:rPr lang="ko-KR" altLang="en-US" sz="2200" dirty="0" smtClean="0"/>
              <a:t>최근 </a:t>
            </a:r>
            <a:r>
              <a:rPr lang="ko-KR" altLang="en-US" sz="2200" dirty="0" err="1" smtClean="0"/>
              <a:t>모바일</a:t>
            </a:r>
            <a:r>
              <a:rPr lang="ko-KR" altLang="en-US" sz="2200" dirty="0" smtClean="0"/>
              <a:t> 응용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위치기반 서비스</a:t>
            </a:r>
            <a:r>
              <a:rPr lang="en-US" altLang="ko-KR" sz="2200" dirty="0" smtClean="0"/>
              <a:t>(LBS), </a:t>
            </a:r>
            <a:r>
              <a:rPr lang="ko-KR" altLang="en-US" sz="2200" dirty="0" err="1" smtClean="0"/>
              <a:t>드론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자동 주행</a:t>
            </a:r>
            <a:endParaRPr lang="en-US" altLang="ko-KR" sz="2200" dirty="0" smtClean="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 </a:t>
            </a:r>
            <a:r>
              <a:rPr lang="ko-KR" altLang="en-US" sz="2200" dirty="0" smtClean="0"/>
              <a:t> 차량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유도 무기</a:t>
            </a:r>
            <a:r>
              <a:rPr lang="en-US" altLang="ko-KR" sz="2200" dirty="0" smtClean="0"/>
              <a:t>, </a:t>
            </a:r>
            <a:r>
              <a:rPr lang="ko-KR" altLang="en-US" sz="2200" dirty="0" smtClean="0"/>
              <a:t>로봇 등 모든 분야에 활용</a:t>
            </a:r>
            <a:endParaRPr lang="en-US" altLang="ko-KR" sz="2200" dirty="0" smtClean="0"/>
          </a:p>
          <a:p>
            <a:pPr eaLnBrk="1" hangingPunct="1">
              <a:buFont typeface="Wingdings 3" pitchFamily="18" charset="2"/>
              <a:buNone/>
            </a:pPr>
            <a:r>
              <a:rPr lang="en-US" altLang="ko-KR" sz="2200" dirty="0"/>
              <a:t> </a:t>
            </a:r>
            <a:r>
              <a:rPr lang="en-US" altLang="ko-KR" sz="2200" dirty="0" smtClean="0"/>
              <a:t>   - IOT</a:t>
            </a:r>
            <a:r>
              <a:rPr lang="ko-KR" altLang="en-US" sz="2200" dirty="0" smtClean="0"/>
              <a:t>에서도 위치 제공으로 필수적인 센서</a:t>
            </a:r>
            <a:endParaRPr lang="en-US" altLang="ko-KR" sz="2200" dirty="0"/>
          </a:p>
        </p:txBody>
      </p:sp>
      <p:sp>
        <p:nvSpPr>
          <p:cNvPr id="82947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5C6C66F1-61F0-444F-8B2D-B96783CDEEB4}" type="slidenum">
              <a:rPr lang="en-US" altLang="ko-KR" sz="1700" b="1">
                <a:solidFill>
                  <a:srgbClr val="1F497D"/>
                </a:solidFill>
              </a:rPr>
              <a:pPr/>
              <a:t>43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20810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2950" name="Rectangle 7"/>
          <p:cNvSpPr>
            <a:spLocks noChangeArrowheads="1"/>
          </p:cNvSpPr>
          <p:nvPr/>
        </p:nvSpPr>
        <p:spPr bwMode="auto">
          <a:xfrm>
            <a:off x="3962054" y="150468"/>
            <a:ext cx="5181946" cy="370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3" tIns="45702" rIns="91403" bIns="45702">
            <a:spAutoFit/>
          </a:bodyPr>
          <a:lstStyle>
            <a:lvl1pPr latinLnBrk="1">
              <a:spcBef>
                <a:spcPct val="20000"/>
              </a:spcBef>
              <a:buFont typeface="Arial" pitchFamily="34" charset="0"/>
              <a:buChar char="•"/>
              <a:defRPr sz="3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itchFamily="34" charset="0"/>
              <a:buChar char="–"/>
              <a:defRPr sz="3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itchFamily="34" charset="0"/>
              <a:buChar char="•"/>
              <a:defRPr sz="2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itchFamily="34" charset="0"/>
              <a:buChar char="–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1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defTabSz="851946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sz="1800" b="1">
                <a:solidFill>
                  <a:srgbClr val="D99694"/>
                </a:solidFill>
                <a:latin typeface="Candara" pitchFamily="34" charset="0"/>
                <a:ea typeface="가을체" pitchFamily="18" charset="-127"/>
                <a:cs typeface="Arial" pitchFamily="34" charset="0"/>
              </a:rPr>
              <a:t>Arduino &amp; Internet of Things.</a:t>
            </a:r>
            <a:endParaRPr kumimoji="1" lang="ko-KR" altLang="en-US" sz="1800">
              <a:solidFill>
                <a:srgbClr val="D99694"/>
              </a:solidFill>
              <a:latin typeface="Candara" pitchFamily="34" charset="0"/>
              <a:ea typeface="가을체" pitchFamily="18" charset="-127"/>
              <a:cs typeface="Arial" pitchFamily="34" charset="0"/>
            </a:endParaRPr>
          </a:p>
        </p:txBody>
      </p:sp>
      <p:sp>
        <p:nvSpPr>
          <p:cNvPr id="82951" name="직사각형 8"/>
          <p:cNvSpPr>
            <a:spLocks noChangeArrowheads="1"/>
          </p:cNvSpPr>
          <p:nvPr/>
        </p:nvSpPr>
        <p:spPr bwMode="auto">
          <a:xfrm>
            <a:off x="201586" y="485329"/>
            <a:ext cx="8740828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6.  GPS</a:t>
            </a:r>
            <a:endParaRPr lang="en-US" altLang="ko-KR" sz="2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319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0"/>
            <a:ext cx="8147928" cy="4934098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en-US" altLang="ko-KR" sz="2200" b="1" dirty="0" smtClean="0">
                <a:solidFill>
                  <a:srgbClr val="0000FF"/>
                </a:solidFill>
              </a:rPr>
              <a:t>GNSS </a:t>
            </a:r>
            <a:r>
              <a:rPr lang="ko-KR" altLang="en-US" sz="2200" b="1" dirty="0" smtClean="0">
                <a:solidFill>
                  <a:srgbClr val="0000FF"/>
                </a:solidFill>
              </a:rPr>
              <a:t>개요</a:t>
            </a:r>
            <a:endParaRPr lang="en-US" altLang="ko-KR" sz="2200" b="1" dirty="0" smtClean="0">
              <a:solidFill>
                <a:srgbClr val="0000FF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 smtClean="0"/>
              <a:t>Global </a:t>
            </a:r>
            <a:r>
              <a:rPr lang="en-US" altLang="ko-KR" sz="2000" dirty="0"/>
              <a:t>Navigation Satellite System(GNSS)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 dirty="0"/>
              <a:t>위성전파를 이용한 위치측정시스템으로 전세계를 포괄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3</a:t>
            </a:r>
            <a:r>
              <a:rPr lang="ko-KR" altLang="en-US" sz="2000" dirty="0"/>
              <a:t>차원 위치</a:t>
            </a:r>
            <a:r>
              <a:rPr lang="en-US" altLang="ko-KR" sz="2000" dirty="0"/>
              <a:t>, </a:t>
            </a:r>
            <a:r>
              <a:rPr lang="ko-KR" altLang="en-US" sz="2000" dirty="0"/>
              <a:t>고도 및 시간의 정확한 측정 </a:t>
            </a:r>
          </a:p>
          <a:p>
            <a:pPr lvl="1" eaLnBrk="1" hangingPunct="1">
              <a:lnSpc>
                <a:spcPct val="90000"/>
              </a:lnSpc>
            </a:pPr>
            <a:r>
              <a:rPr lang="ko-KR" altLang="en-US" sz="2000" dirty="0"/>
              <a:t>전세계적으로 </a:t>
            </a:r>
            <a:r>
              <a:rPr lang="en-US" altLang="ko-KR" sz="2000" dirty="0"/>
              <a:t>24</a:t>
            </a:r>
            <a:r>
              <a:rPr lang="ko-KR" altLang="en-US" sz="2000" dirty="0"/>
              <a:t>시간 연속적인 서비스 </a:t>
            </a:r>
            <a:r>
              <a:rPr lang="ko-KR" altLang="en-US" sz="2000" dirty="0" smtClean="0"/>
              <a:t>제공</a:t>
            </a:r>
            <a:endParaRPr lang="en-US" altLang="ko-KR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ko-KR" sz="2000" dirty="0" smtClean="0"/>
          </a:p>
          <a:p>
            <a:pPr marL="56193" indent="0" eaLnBrk="1" hangingPunct="1">
              <a:lnSpc>
                <a:spcPct val="90000"/>
              </a:lnSpc>
              <a:buNone/>
            </a:pPr>
            <a:r>
              <a:rPr lang="en-US" altLang="ko-KR" sz="2400" b="1" dirty="0" smtClean="0">
                <a:solidFill>
                  <a:srgbClr val="0000FF"/>
                </a:solidFill>
              </a:rPr>
              <a:t>▶ </a:t>
            </a:r>
            <a:r>
              <a:rPr lang="ko-KR" altLang="en-US" sz="2400" b="1" dirty="0" smtClean="0">
                <a:solidFill>
                  <a:srgbClr val="0000FF"/>
                </a:solidFill>
              </a:rPr>
              <a:t>국가별 위성 시스템</a:t>
            </a:r>
            <a:endParaRPr lang="en-US" altLang="ko-KR" sz="2400" dirty="0" smtClean="0"/>
          </a:p>
          <a:p>
            <a:pPr lvl="1">
              <a:lnSpc>
                <a:spcPct val="90000"/>
              </a:lnSpc>
            </a:pPr>
            <a:r>
              <a:rPr lang="ko-KR" altLang="en-US" sz="2000" dirty="0"/>
              <a:t>미국 </a:t>
            </a:r>
            <a:r>
              <a:rPr lang="en-US" altLang="ko-KR" sz="2000" dirty="0"/>
              <a:t>: NAVSTAR GPS (</a:t>
            </a:r>
            <a:r>
              <a:rPr lang="en-US" altLang="ko-KR" sz="2000" dirty="0" err="1"/>
              <a:t>NAVigation</a:t>
            </a:r>
            <a:r>
              <a:rPr lang="en-US" altLang="ko-KR" sz="2000" dirty="0"/>
              <a:t> Satellite Time And Range GPS)</a:t>
            </a:r>
          </a:p>
          <a:p>
            <a:pPr lvl="1">
              <a:lnSpc>
                <a:spcPct val="90000"/>
              </a:lnSpc>
            </a:pPr>
            <a:r>
              <a:rPr lang="ko-KR" altLang="en-US" sz="2000" dirty="0"/>
              <a:t>유럽 </a:t>
            </a:r>
            <a:r>
              <a:rPr lang="en-US" altLang="ko-KR" sz="2000" dirty="0"/>
              <a:t>European Space Agency(ESA): Galileo </a:t>
            </a:r>
          </a:p>
          <a:p>
            <a:pPr lvl="1">
              <a:lnSpc>
                <a:spcPct val="90000"/>
              </a:lnSpc>
            </a:pPr>
            <a:r>
              <a:rPr lang="ko-KR" altLang="en-US" sz="2000" dirty="0"/>
              <a:t>러시아:</a:t>
            </a:r>
            <a:r>
              <a:rPr lang="en-US" altLang="ko-KR" sz="2000" dirty="0"/>
              <a:t> GLONASS(Global Orbiting Navigation Satellite System)  </a:t>
            </a:r>
          </a:p>
          <a:p>
            <a:pPr lvl="1">
              <a:lnSpc>
                <a:spcPct val="90000"/>
              </a:lnSpc>
            </a:pPr>
            <a:r>
              <a:rPr lang="ko-KR" altLang="en-US" sz="2000" dirty="0"/>
              <a:t>중국</a:t>
            </a:r>
            <a:r>
              <a:rPr lang="en-US" altLang="ko-KR" sz="2000" dirty="0"/>
              <a:t>: COMPASS</a:t>
            </a:r>
          </a:p>
          <a:p>
            <a:pPr lvl="1">
              <a:lnSpc>
                <a:spcPct val="90000"/>
              </a:lnSpc>
            </a:pPr>
            <a:r>
              <a:rPr lang="en-US" altLang="ko-KR" sz="2000" dirty="0"/>
              <a:t> </a:t>
            </a:r>
            <a:r>
              <a:rPr lang="ko-KR" altLang="en-US" sz="2000" dirty="0"/>
              <a:t>일본</a:t>
            </a:r>
            <a:r>
              <a:rPr lang="en-US" altLang="ko-KR" sz="2000" dirty="0"/>
              <a:t>: QZSS(Quasi Zenith Satellite System)</a:t>
            </a:r>
          </a:p>
          <a:p>
            <a:pPr lvl="1">
              <a:lnSpc>
                <a:spcPct val="90000"/>
              </a:lnSpc>
            </a:pPr>
            <a:r>
              <a:rPr lang="ko-KR" altLang="en-US" sz="2000" dirty="0"/>
              <a:t>인도</a:t>
            </a:r>
            <a:r>
              <a:rPr lang="en-US" altLang="ko-KR" sz="2000" dirty="0"/>
              <a:t>: IRNSS(Indian Regional Navigation Satellite System)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ko-KR" sz="2000" dirty="0" smtClean="0"/>
          </a:p>
          <a:p>
            <a:pPr lvl="1" eaLnBrk="1" hangingPunct="1">
              <a:lnSpc>
                <a:spcPct val="90000"/>
              </a:lnSpc>
            </a:pPr>
            <a:endParaRPr lang="en-US" altLang="ko-KR" sz="2000" dirty="0"/>
          </a:p>
          <a:p>
            <a:pPr lvl="1" eaLnBrk="1" hangingPunct="1">
              <a:lnSpc>
                <a:spcPct val="90000"/>
              </a:lnSpc>
            </a:pPr>
            <a:endParaRPr lang="ko-KR" altLang="en-US" sz="2000" dirty="0"/>
          </a:p>
        </p:txBody>
      </p:sp>
      <p:sp>
        <p:nvSpPr>
          <p:cNvPr id="8397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7986050-8276-46AD-B620-8563544EF54C}" type="slidenum">
              <a:rPr lang="en-US" altLang="ko-KR" sz="1700" b="1">
                <a:solidFill>
                  <a:srgbClr val="1F497D"/>
                </a:solidFill>
              </a:rPr>
              <a:pPr/>
              <a:t>44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3975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.  GPS</a:t>
            </a:r>
            <a:endParaRPr lang="en-US" altLang="ko-KR" sz="2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698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1"/>
            <a:ext cx="8147928" cy="104566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en-US" altLang="ko-KR" sz="2200" b="1" dirty="0" smtClean="0">
                <a:solidFill>
                  <a:srgbClr val="0000FF"/>
                </a:solidFill>
              </a:rPr>
              <a:t>GPS </a:t>
            </a:r>
            <a:r>
              <a:rPr lang="ko-KR" altLang="en-US" sz="2200" b="1" dirty="0" smtClean="0">
                <a:solidFill>
                  <a:srgbClr val="0000FF"/>
                </a:solidFill>
              </a:rPr>
              <a:t>위성</a:t>
            </a:r>
            <a:r>
              <a:rPr lang="en-US" altLang="ko-KR" sz="2200" b="1" dirty="0" smtClean="0">
                <a:solidFill>
                  <a:srgbClr val="0000FF"/>
                </a:solidFill>
              </a:rPr>
              <a:t> </a:t>
            </a:r>
            <a:r>
              <a:rPr lang="ko-KR" altLang="en-US" sz="2200" b="1" dirty="0" smtClean="0">
                <a:solidFill>
                  <a:srgbClr val="0000FF"/>
                </a:solidFill>
              </a:rPr>
              <a:t>궤도</a:t>
            </a:r>
            <a:endParaRPr lang="en-US" altLang="ko-KR" sz="2200" b="1" dirty="0">
              <a:solidFill>
                <a:srgbClr val="0000FF"/>
              </a:solidFill>
            </a:endParaRPr>
          </a:p>
          <a:p>
            <a:pPr lvl="1"/>
            <a:r>
              <a:rPr lang="en-US" altLang="ko-KR" sz="2200" b="1" dirty="0">
                <a:solidFill>
                  <a:srgbClr val="0000FF"/>
                </a:solidFill>
              </a:rPr>
              <a:t> </a:t>
            </a:r>
            <a:r>
              <a:rPr lang="ko-KR" altLang="en-US" sz="2200" b="1" dirty="0" smtClean="0">
                <a:solidFill>
                  <a:srgbClr val="0000FF"/>
                </a:solidFill>
              </a:rPr>
              <a:t>고도 </a:t>
            </a:r>
            <a:r>
              <a:rPr lang="en-US" altLang="ko-KR" sz="2000" dirty="0" smtClean="0"/>
              <a:t>20,200km</a:t>
            </a:r>
            <a:r>
              <a:rPr lang="en-US" altLang="ko-KR" sz="2000" dirty="0"/>
              <a:t>, 6</a:t>
            </a:r>
            <a:r>
              <a:rPr lang="ko-KR" altLang="en-US" sz="2000" dirty="0"/>
              <a:t>궤도</a:t>
            </a:r>
            <a:r>
              <a:rPr lang="en-US" altLang="ko-KR" sz="2000" dirty="0"/>
              <a:t>, 55</a:t>
            </a:r>
            <a:r>
              <a:rPr lang="en-US" altLang="ko-KR" sz="2000" baseline="30000" dirty="0"/>
              <a:t>o</a:t>
            </a:r>
            <a:r>
              <a:rPr lang="en-US" altLang="ko-KR" sz="2000" dirty="0"/>
              <a:t> </a:t>
            </a:r>
            <a:r>
              <a:rPr lang="ko-KR" altLang="en-US" sz="2000" dirty="0"/>
              <a:t>경사</a:t>
            </a:r>
            <a:r>
              <a:rPr lang="en-US" altLang="ko-KR" sz="2000" dirty="0"/>
              <a:t>, 24</a:t>
            </a:r>
            <a:r>
              <a:rPr lang="ko-KR" altLang="en-US" sz="2000" dirty="0"/>
              <a:t>개 </a:t>
            </a:r>
            <a:r>
              <a:rPr lang="ko-KR" altLang="en-US" sz="2000" dirty="0" smtClean="0"/>
              <a:t>위성 운용</a:t>
            </a:r>
            <a:endParaRPr lang="en-US" altLang="ko-KR" sz="2000" dirty="0" smtClean="0"/>
          </a:p>
        </p:txBody>
      </p:sp>
      <p:sp>
        <p:nvSpPr>
          <p:cNvPr id="8397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7986050-8276-46AD-B620-8563544EF54C}" type="slidenum">
              <a:rPr lang="en-US" altLang="ko-KR" sz="1700" b="1">
                <a:solidFill>
                  <a:srgbClr val="1F497D"/>
                </a:solidFill>
              </a:rPr>
              <a:pPr/>
              <a:t>45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3975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6.  GPS</a:t>
            </a:r>
            <a:endParaRPr lang="en-US" altLang="ko-KR" sz="2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877" y="2492896"/>
            <a:ext cx="3600400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10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1"/>
            <a:ext cx="8147928" cy="104566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en-US" altLang="ko-KR" sz="2200" b="1" dirty="0" smtClean="0">
                <a:solidFill>
                  <a:srgbClr val="0000FF"/>
                </a:solidFill>
              </a:rPr>
              <a:t>GPS </a:t>
            </a:r>
            <a:r>
              <a:rPr lang="ko-KR" altLang="en-US" sz="2200" b="1" dirty="0" smtClean="0">
                <a:solidFill>
                  <a:srgbClr val="0000FF"/>
                </a:solidFill>
              </a:rPr>
              <a:t>원리</a:t>
            </a:r>
            <a:endParaRPr lang="en-US" altLang="ko-KR" sz="2200" b="1" dirty="0" smtClean="0">
              <a:solidFill>
                <a:srgbClr val="0000FF"/>
              </a:solidFill>
            </a:endParaRPr>
          </a:p>
          <a:p>
            <a:pPr>
              <a:buFontTx/>
              <a:buChar char="-"/>
            </a:pPr>
            <a:r>
              <a:rPr lang="en-US" altLang="ko-KR" sz="2000" dirty="0" smtClean="0"/>
              <a:t>PN </a:t>
            </a:r>
            <a:r>
              <a:rPr lang="en-US" altLang="ko-KR" sz="2000" dirty="0"/>
              <a:t>or PRN(Pseudo Random Noise) Code </a:t>
            </a:r>
            <a:r>
              <a:rPr lang="ko-KR" altLang="en-US" sz="2000" dirty="0"/>
              <a:t>동기기술 </a:t>
            </a:r>
            <a:r>
              <a:rPr lang="ko-KR" altLang="en-US" sz="2000" dirty="0" smtClean="0"/>
              <a:t>및</a:t>
            </a:r>
            <a:endParaRPr lang="en-US" altLang="ko-KR" sz="2000" dirty="0" smtClean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삼각측량</a:t>
            </a:r>
          </a:p>
        </p:txBody>
      </p:sp>
      <p:sp>
        <p:nvSpPr>
          <p:cNvPr id="8397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7986050-8276-46AD-B620-8563544EF54C}" type="slidenum">
              <a:rPr lang="en-US" altLang="ko-KR" sz="1700" b="1">
                <a:solidFill>
                  <a:srgbClr val="1F497D"/>
                </a:solidFill>
              </a:rPr>
              <a:pPr/>
              <a:t>46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3975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.  GPS</a:t>
            </a:r>
            <a:endParaRPr lang="en-US" altLang="ko-KR" sz="2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383" y="2403128"/>
            <a:ext cx="5678985" cy="3606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505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03172" y="1087191"/>
            <a:ext cx="8147928" cy="541609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  <a:defRPr/>
            </a:pPr>
            <a:r>
              <a:rPr lang="en-US" altLang="ko-KR" sz="2200" b="1" dirty="0">
                <a:solidFill>
                  <a:srgbClr val="0000FF"/>
                </a:solidFill>
              </a:rPr>
              <a:t>▶ </a:t>
            </a:r>
            <a:r>
              <a:rPr lang="en-US" altLang="ko-KR" sz="2200" b="1" dirty="0" smtClean="0">
                <a:solidFill>
                  <a:srgbClr val="0000FF"/>
                </a:solidFill>
              </a:rPr>
              <a:t>GPS </a:t>
            </a:r>
            <a:r>
              <a:rPr lang="ko-KR" altLang="en-US" sz="2200" b="1" dirty="0" smtClean="0">
                <a:solidFill>
                  <a:srgbClr val="0000FF"/>
                </a:solidFill>
              </a:rPr>
              <a:t>응용 분야</a:t>
            </a:r>
            <a:endParaRPr lang="en-US" altLang="ko-KR" sz="2200" b="1" dirty="0" smtClean="0">
              <a:solidFill>
                <a:srgbClr val="0000FF"/>
              </a:solidFill>
            </a:endParaRPr>
          </a:p>
        </p:txBody>
      </p:sp>
      <p:sp>
        <p:nvSpPr>
          <p:cNvPr id="83971" name="슬라이드 번호 개체 틀 1"/>
          <p:cNvSpPr>
            <a:spLocks noGrp="1"/>
          </p:cNvSpPr>
          <p:nvPr>
            <p:ph type="sldNum" sz="quarter" idx="12"/>
          </p:nvPr>
        </p:nvSpPr>
        <p:spPr bwMode="auto">
          <a:xfrm>
            <a:off x="8471059" y="6493636"/>
            <a:ext cx="512858" cy="364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690590" indent="-264702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063242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489131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1915019" indent="-211466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340908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766797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192685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618573" indent="-211466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fld id="{87986050-8276-46AD-B620-8563544EF54C}" type="slidenum">
              <a:rPr lang="en-US" altLang="ko-KR" sz="1700" b="1">
                <a:solidFill>
                  <a:srgbClr val="1F497D"/>
                </a:solidFill>
              </a:rPr>
              <a:pPr/>
              <a:t>47</a:t>
            </a:fld>
            <a:endParaRPr lang="en-US" altLang="ko-KR" sz="1700" b="1">
              <a:solidFill>
                <a:srgbClr val="1F497D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07932" y="6306294"/>
            <a:ext cx="8035277" cy="663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0" y="1019336"/>
            <a:ext cx="8033794" cy="67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169" tIns="42585" rIns="85169" bIns="42585" anchor="ctr"/>
          <a:lstStyle/>
          <a:p>
            <a:pPr algn="ctr" defTabSz="851946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64915" y="150468"/>
            <a:ext cx="5181946" cy="370265"/>
          </a:xfrm>
          <a:prstGeom prst="rect">
            <a:avLst/>
          </a:prstGeom>
          <a:noFill/>
          <a:ln>
            <a:noFill/>
          </a:ln>
          <a:extLst/>
        </p:spPr>
        <p:txBody>
          <a:bodyPr lIns="91403" tIns="45702" rIns="91403" bIns="45702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±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90000"/>
              <a:buFont typeface="Wingdings 2" panose="05020102010507070707" pitchFamily="18" charset="2"/>
              <a:buChar char="®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®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®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algn="r" defTabSz="851946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ko-KR" sz="1800" b="1" dirty="0">
                <a:solidFill>
                  <a:srgbClr val="C0504D">
                    <a:lumMod val="60000"/>
                    <a:lumOff val="40000"/>
                  </a:srgbClr>
                </a:solidFill>
                <a:latin typeface="Candara" panose="020E0502030303020204" pitchFamily="34" charset="0"/>
                <a:ea typeface="가을체" pitchFamily="18" charset="-127"/>
              </a:rPr>
              <a:t>Arduino &amp; Internet of Things.</a:t>
            </a:r>
            <a:endParaRPr lang="ko-KR" altLang="en-US" sz="1800" dirty="0">
              <a:solidFill>
                <a:srgbClr val="C0504D">
                  <a:lumMod val="60000"/>
                  <a:lumOff val="40000"/>
                </a:srgbClr>
              </a:solidFill>
              <a:latin typeface="Candara" panose="020E0502030303020204" pitchFamily="34" charset="0"/>
              <a:ea typeface="가을체" pitchFamily="18" charset="-127"/>
            </a:endParaRPr>
          </a:p>
        </p:txBody>
      </p:sp>
      <p:sp>
        <p:nvSpPr>
          <p:cNvPr id="83975" name="직사각형 8"/>
          <p:cNvSpPr>
            <a:spLocks noChangeArrowheads="1"/>
          </p:cNvSpPr>
          <p:nvPr/>
        </p:nvSpPr>
        <p:spPr bwMode="auto">
          <a:xfrm>
            <a:off x="269770" y="485329"/>
            <a:ext cx="8005632" cy="48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169" tIns="42585" rIns="85169" bIns="42585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defTabSz="851946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과제</a:t>
            </a:r>
            <a:r>
              <a:rPr lang="en-US" altLang="ko-KR" sz="2600" b="1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6.  GPS</a:t>
            </a:r>
            <a:endParaRPr lang="en-US" altLang="ko-KR" sz="26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9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9471517"/>
              </p:ext>
            </p:extLst>
          </p:nvPr>
        </p:nvGraphicFramePr>
        <p:xfrm>
          <a:off x="991498" y="1700808"/>
          <a:ext cx="7042296" cy="4458261"/>
        </p:xfrm>
        <a:graphic>
          <a:graphicData uri="http://schemas.openxmlformats.org/drawingml/2006/table">
            <a:tbl>
              <a:tblPr/>
              <a:tblGrid>
                <a:gridCol w="1242049"/>
                <a:gridCol w="1456718"/>
                <a:gridCol w="4343529"/>
              </a:tblGrid>
              <a:tr h="3302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분야</a:t>
                      </a:r>
                    </a:p>
                  </a:txBody>
                  <a:tcPr marL="91445" marR="91445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응용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779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산업분야</a:t>
                      </a:r>
                    </a:p>
                  </a:txBody>
                  <a:tcPr marL="91445" marR="91445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측지측량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정밀 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차원 측지망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기준점 측량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INS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에 의한 항공촬영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위성영상의 좌표 보정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각종 토목측량 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77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GIS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지도 제작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주제도 제작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수자원 관리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삼림자원 관리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농업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해저지도 작성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해양자원탐사 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77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공공안전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시각동기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긴급 구조 서비스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긴급 차량진단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지원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조난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구조 서비스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분실차량 추적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해수면 감시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운송분야</a:t>
                      </a:r>
                    </a:p>
                  </a:txBody>
                  <a:tcPr marL="91445" marR="91445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항공수송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항공항법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공항감시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전천후 착륙시스템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77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육상수송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대중교통시스템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전자요금징수시스템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차량위치추적시스템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충돌회피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자동주행시스템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자동항법시스템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레저</a:t>
                      </a:r>
                      <a:r>
                        <a:rPr kumimoji="1" lang="en-US" altLang="ko-K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스포츠 분야</a:t>
                      </a:r>
                    </a:p>
                  </a:txBody>
                  <a:tcPr marL="91445" marR="91445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차량 여행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하이킹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등산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사냥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낚시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어군추적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항해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779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지구물리학</a:t>
                      </a:r>
                    </a:p>
                  </a:txBody>
                  <a:tcPr marL="91445" marR="91445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지각변동관측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지질구조해석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지구의 자전속도 및 극운동 변화량 검출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항공지구물리 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군사분야</a:t>
                      </a:r>
                    </a:p>
                  </a:txBody>
                  <a:tcPr marL="91445" marR="91445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군사훈련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무기유도</a:t>
                      </a:r>
                      <a:r>
                        <a:rPr kumimoji="1" lang="en-US" altLang="ko-KR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포대위치확인 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52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우주분야</a:t>
                      </a:r>
                    </a:p>
                  </a:txBody>
                  <a:tcPr marL="91445" marR="91445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위성체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자세제어결정</a:t>
                      </a:r>
                      <a:r>
                        <a:rPr kumimoji="1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, </a:t>
                      </a:r>
                      <a:r>
                        <a:rPr kumimoji="1" lang="ko-KR" alt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위성체</a:t>
                      </a:r>
                      <a:r>
                        <a:rPr kumimoji="1" lang="ko-KR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궤도결정 </a:t>
                      </a:r>
                    </a:p>
                  </a:txBody>
                  <a:tcPr marL="91445" marR="9144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74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build="p"/>
    </p:bld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3961</Words>
  <Application>Microsoft Office PowerPoint</Application>
  <PresentationFormat>화면 슬라이드 쇼(4:3)</PresentationFormat>
  <Paragraphs>805</Paragraphs>
  <Slides>47</Slides>
  <Notes>46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47</vt:i4>
      </vt:variant>
    </vt:vector>
  </HeadingPairs>
  <TitlesOfParts>
    <vt:vector size="49" baseType="lpstr">
      <vt:lpstr>1_Office 테마</vt:lpstr>
      <vt:lpstr>2_Office 테마</vt:lpstr>
      <vt:lpstr>2.2 자동차 부품     2015. 07. 07   성남모바일앱센터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아두이노와 사물인터넷 Arduino &amp; Internet of Things    2015. 05. 14  가천대학교 &amp; 성남산업진흥재단 </dc:title>
  <dc:creator>user</dc:creator>
  <cp:lastModifiedBy>user</cp:lastModifiedBy>
  <cp:revision>22</cp:revision>
  <dcterms:created xsi:type="dcterms:W3CDTF">2015-07-04T01:15:43Z</dcterms:created>
  <dcterms:modified xsi:type="dcterms:W3CDTF">2015-07-07T03:22:05Z</dcterms:modified>
</cp:coreProperties>
</file>